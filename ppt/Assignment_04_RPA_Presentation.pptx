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</a:rPr>
              <a:t>RPA COURSE  ·  ASSIGNMENT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E-Commerce Order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3C5FD"/>
                </a:solidFill>
              </a:rPr>
              <a:t>RPA Bot — Troubleshooting &amp; Debugging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A comprehensive study on diagnosing, debugging, and optimizing a
UiPath RPA bot for end-to-end e-commerce order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Student: Omais Siddiqui     |     Platform: UiPath + Orchestrator     |   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Presentation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56616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RPA Error 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5 realistic exceptions across workflow stages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56616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173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65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Debugging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3774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Logging, monitoring, retry logic, decision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56616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41731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965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7743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Performance, reliability, scheduling, before/after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840479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840479"/>
            <a:ext cx="356616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7763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F4444"/>
                </a:solidFill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262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Monitoring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3775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KPIs, queue health, alerts, bot instance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3840479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840479"/>
            <a:ext cx="356616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3977639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333EA"/>
                </a:solidFill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5262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</a:rPr>
              <a:t>AI-Assisted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937759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Vibe coding with Claude Code — how it was built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Section 1 — RPA Error Log: 5 Exceptions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1175004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15568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Error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11556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1155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1155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Severity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1155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Root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508760"/>
            <a:ext cx="117500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55448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E-01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5448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SelectorNotFoundException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5544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63EB"/>
                </a:solidFill>
              </a:rPr>
              <a:t>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155448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</a:rPr>
              <a:t>Order Placement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55448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15544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3A5C"/>
                </a:solidFill>
              </a:rPr>
              <a:t>Stale CSS selector after frontend deploy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377439"/>
            <a:ext cx="1175004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423159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E-02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42315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InvalidOrderDataException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42315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</a:rPr>
              <a:t>Business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423159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</a:rPr>
              <a:t>Data Extraction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423159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42315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3A5C"/>
                </a:solidFill>
              </a:rPr>
              <a:t>Missing ZIP code in ERP international feed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246120"/>
            <a:ext cx="117500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291839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E-03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29183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OracleDBTimeoutException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29183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563EB"/>
                </a:solidFill>
              </a:rPr>
              <a:t>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291839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</a:rPr>
              <a:t>Inventory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3291839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4444"/>
                </a:solidFill>
              </a:rPr>
              <a:t>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29183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3A5C"/>
                </a:solidFill>
              </a:rPr>
              <a:t>Missing DB index causing full table scans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4114800"/>
            <a:ext cx="1175004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4160520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E-04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16052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DuplicateOrderException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1605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9E0B"/>
                </a:solidFill>
              </a:rPr>
              <a:t>Business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1605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</a:rPr>
              <a:t>Order Submission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41605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16052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3A5C"/>
                </a:solidFill>
              </a:rPr>
              <a:t>No idempotency key on retry logic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" y="4983479"/>
            <a:ext cx="117500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5029199"/>
            <a:ext cx="320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E-05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029199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3A5C"/>
                </a:solidFill>
              </a:rPr>
              <a:t>PDFParsingFailureException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5029199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33EA"/>
                </a:solidFill>
              </a:rPr>
              <a:t>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4840" y="5029199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3A5C"/>
                </a:solidFill>
              </a:rPr>
              <a:t>Invoice Generation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5029199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</a:rPr>
              <a:t>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029199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3A5C"/>
                </a:solidFill>
              </a:rPr>
              <a:t>Scanned PDF — OCR not enabled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Section 2 — Debugging Strategy &amp;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577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📋 Logging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7373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• Structured levels: INFO, WARN, ERROR, FATAL
• Include: OrderID, BotInstanceID, UTC timestamp
• Screenshot on every exception
• Ship to Orchestrator → Elasticsearch → Kibana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4300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5577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📊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373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• Real-time KPI tracking (60s refresh)
• PagerDuty: alert if success rate &lt;90%
• SLA violation detection (4-hour threshold)
• Anomaly detection → auto Jira tickets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0332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703320"/>
            <a:ext cx="5577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840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🔁 Reproduction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• Isolate failing transaction from queue
• Snapshot environment state
• Replay in UiPath Debug mode
• Reproduce 3× before applying any fix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70332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703320"/>
            <a:ext cx="55778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840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🔄 Retry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• RetryScope: 3 retries, 5s backoff
• Idempotency key check before each order POST
• System exceptions → retry then escalate
• Business exceptions → exception queue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Debugging Decision Flow — 10-Step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1005840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98448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Error
Detected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435608" y="1280160"/>
            <a:ext cx="10058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81328" y="1298448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Log
Captured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14630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6896" y="1280160"/>
            <a:ext cx="100584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5" y="1298448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Alert
Triggered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2736" y="14630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8184" y="1280160"/>
            <a:ext cx="1005840" cy="8229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1298448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Classify
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14630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19472" y="1280160"/>
            <a:ext cx="100584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1298448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Reproduce
in 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14630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59" y="1280160"/>
            <a:ext cx="1005840" cy="8229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1298448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Apply
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14630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1280160"/>
            <a:ext cx="1005840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1298448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Test 50
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14630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03336" y="1280160"/>
            <a:ext cx="100584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1298448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Deploy
to PROD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9176" y="14630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4624" y="1280160"/>
            <a:ext cx="1005840" cy="8229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0344" y="1298448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Monitor
24hr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0464" y="1463040"/>
            <a:ext cx="164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25912" y="1280160"/>
            <a:ext cx="100584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71632" y="1298448"/>
            <a:ext cx="91440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Close
Incident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24231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2423160"/>
            <a:ext cx="36576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2487168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</a:rPr>
              <a:t>System Exception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2852928"/>
            <a:ext cx="3438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3A5C"/>
                </a:solidFill>
              </a:rPr>
              <a:t>Auto-retry 3× → If persistent: pause bot → Notify DevOps → Hotfix selector/infrastructure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24231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2423160"/>
            <a:ext cx="36576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24528" y="2487168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</a:rPr>
              <a:t>Business Exception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24528" y="2852928"/>
            <a:ext cx="3438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3A5C"/>
                </a:solidFill>
              </a:rPr>
              <a:t>Move to Exception Queue → Human review within 2 hours → Reprocess with corrected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242316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79" y="2423160"/>
            <a:ext cx="3657600" cy="6400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65007" y="2487168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333EA"/>
                </a:solidFill>
              </a:rPr>
              <a:t>App Exception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65007" y="2852928"/>
            <a:ext cx="343814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3A5C"/>
                </a:solidFill>
              </a:rPr>
              <a:t>Enable OCR fallback → Reroute to alternate parser → Log for vendor notification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114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Each exception type has its own handling path — reducing Mean Time to Resolution (MTTR)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Section 3 — Bot Optimization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577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⚡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7373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• 5 parallel bot lanes via Work Queues
• DB composite index: 30s → &lt;200ms
• Lazy UI loading: -40% wait time
• Batch inventory API calls (50 per batch)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14300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43000"/>
            <a:ext cx="5577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280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🛡️ 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373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• Idempotency keys eliminate duplicates
• Dynamic anchor-based selectors
• JSON schema validation on ERP feed
• Circuit breaker on DB error spikes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0332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703320"/>
            <a:ext cx="5577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840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🔧 Maintainability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• Centralized selector library in Orchestrator
• Modular .xaml workflows per stage
• Config-driven (no code deploy for params)
• OCR pipeline for scanned PDFs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703320"/>
            <a:ext cx="557784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3703320"/>
            <a:ext cx="557784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840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</a:rPr>
              <a:t>🗓️ Scheduling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297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• Peak (8AM–6PM): 5 bot instances
• Off-peak (6PM–8AM): 2 instances
• Maintenance: 2AM–4AM daily window
• VIP queue: 15-minute SLA guarantee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Before vs. After Optimization — 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39496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53035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❌  BEFORE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</a:rPr>
              <a:t>✗  Success rate: 71%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</a:rPr>
              <a:t>✗  Processing time: 4.2 min/order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</a:rPr>
              <a:t>✗  Duplicate orders: ~12 incidents/week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</a:rPr>
              <a:t>✗  DB timeouts: 80+ per peak hour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</a:rPr>
              <a:t>✗  Manual overhead: 3.5 hours/day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</a:rPr>
              <a:t>✗  Selector failures after every frontend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709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</a:rPr>
              <a:t>✗  Throughput: 120 orders/hour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</a:rPr>
              <a:t>✗  Config changes require code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097280"/>
            <a:ext cx="5303520" cy="53949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3035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✅  AFTER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</a:rPr>
              <a:t>✓  Success rate: 97.4% (+26%)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</a:rPr>
              <a:t>✓  Processing time: 1.8 min/order (57% faster)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697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</a:rPr>
              <a:t>✓  Duplicate orders: 0 incidents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</a:rPr>
              <a:t>✓  DB timeouts: eliminated (&lt;200ms)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703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</a:rPr>
              <a:t>✓  Manual overhead: 12 min/day (96% less)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</a:rPr>
              <a:t>✓  Dynamic selectors survive all deployments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709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</a:rPr>
              <a:t>✓  Throughput: 600 orders/hour (5× increase)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212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5F46"/>
                </a:solidFill>
              </a:rPr>
              <a:t>✓  Zero-downtime config updates via Orchestrator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3832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A3A5C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Section 4 — Monitoring Dashboard 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611880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533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Total Orders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73736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4,827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7889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</a:rPr>
              <a:t>▲ 12% vs yesterday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188720"/>
            <a:ext cx="3611880" cy="2148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3533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3736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97.4%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889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</a:rPr>
              <a:t>▲ Above 95% SLA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188720"/>
            <a:ext cx="3611880" cy="2148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35331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Failed 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73736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78892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</a:rPr>
              <a:t>▼ 43% vs pre-optimization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11880"/>
            <a:ext cx="3611880" cy="2148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77647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Retries Executed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605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218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52120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</a:rPr>
              <a:t>▼ 60% improvement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611880"/>
            <a:ext cx="3611880" cy="21488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77647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Avg Process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1605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1.8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2120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</a:rPr>
              <a:t>▼ 57% faster per order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611880"/>
            <a:ext cx="3611880" cy="21488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377647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Bot Uptime (30d)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16052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99.2%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5212080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</a:rPr>
              <a:t>▲ Target: 99% — Exceeded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Section 5 — AI-Assisted Development: Vibe Coding with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40312" cy="100584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</a:rPr>
              <a:t>What is Vibe Coding?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</a:rPr>
              <a:t>Vibe coding = describing what you want in natural language → AI generates the implementation.
The developer acts as architect &amp; reviewer; Claude Code handles implementation details.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86000"/>
            <a:ext cx="56235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56235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2395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</a:rPr>
              <a:t>💬 Prompt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7432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</a:rPr>
              <a:t>Full project requirements described in natural language → Claude structured architecture, layout, and component design from plain English prompts.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2286000"/>
            <a:ext cx="56235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2286000"/>
            <a:ext cx="56235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2395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</a:rPr>
              <a:t>🎨 UI/UX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27432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</a:rPr>
              <a:t>Design specs like 'enterprise-style, navy/gold color scheme, card layout' became actual CSS gradients, grid systems, and styled components — no manual CSS.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703320"/>
            <a:ext cx="56235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703320"/>
            <a:ext cx="56235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8130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</a:rPr>
              <a:t>📋 Domain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41605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</a:rPr>
              <a:t>RPA error scenarios, root causes, and business impacts generated by feeding Claude the domain context — technically accurate UiPath + e-commerce content.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703320"/>
            <a:ext cx="56235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703320"/>
            <a:ext cx="562356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8" y="381304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</a:rPr>
              <a:t>🔄 Iterative Refinement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41605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</a:rPr>
              <a:t>Each section refined through prompt → generate → review loop. The debugging flow evolved from a list to a visual step-by-step arrow flow via a single prompt.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120640"/>
            <a:ext cx="56235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120640"/>
            <a:ext cx="5623560" cy="64008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52303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</a:rPr>
              <a:t>⚙️ Full Stack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5577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</a:rPr>
              <a:t>Claude Code generated HTML/CSS/JS, Python scripts for PPT/Word, folder structure, GitHub setup commands, and this video script — all from conversation.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120640"/>
            <a:ext cx="56235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5120640"/>
            <a:ext cx="5623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52303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</a:rPr>
              <a:t>📊 Consistent Mock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55778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293B"/>
                </a:solidFill>
              </a:rPr>
              <a:t>Dashboard KPIs internally consistent and realistic for mid-scale e-commerce. Before/after metrics logically aligned with described optimizations.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Key 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05840"/>
            <a:ext cx="6702552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383280" cy="1965960"/>
          </a:xfrm>
          <a:prstGeom prst="rect">
            <a:avLst/>
          </a:prstGeom>
          <a:solidFill>
            <a:srgbClr val="1E4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383280" cy="8229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563EB"/>
                </a:solidFill>
              </a:rPr>
              <a:t>↑26%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31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Success Rate 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C5FD"/>
                </a:solidFill>
              </a:rPr>
              <a:t>71% → 97.4%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371600"/>
            <a:ext cx="3383280" cy="1965960"/>
          </a:xfrm>
          <a:prstGeom prst="rect">
            <a:avLst/>
          </a:prstGeom>
          <a:solidFill>
            <a:srgbClr val="1E4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383280" cy="8229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0B981"/>
                </a:solidFill>
              </a:rPr>
              <a:t>5×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Throughput Increase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743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C5FD"/>
                </a:solidFill>
              </a:rPr>
              <a:t>120 → 600 orders/hr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371600"/>
            <a:ext cx="3383280" cy="1965960"/>
          </a:xfrm>
          <a:prstGeom prst="rect">
            <a:avLst/>
          </a:prstGeom>
          <a:solidFill>
            <a:srgbClr val="1E4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371600"/>
            <a:ext cx="3383280" cy="8229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554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</a:rPr>
              <a:t>57%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31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Faster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743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C5FD"/>
                </a:solidFill>
              </a:rPr>
              <a:t>4.2min → 1.8min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3383280" cy="1965960"/>
          </a:xfrm>
          <a:prstGeom prst="rect">
            <a:avLst/>
          </a:prstGeom>
          <a:solidFill>
            <a:srgbClr val="1E4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3383280" cy="82296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840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9333EA"/>
                </a:solidFill>
              </a:rPr>
              <a:t>96%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17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Manual Work Reduced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029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C5FD"/>
                </a:solidFill>
              </a:rPr>
              <a:t>3.5hr → 12min/day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657600"/>
            <a:ext cx="3383280" cy="1965960"/>
          </a:xfrm>
          <a:prstGeom prst="rect">
            <a:avLst/>
          </a:prstGeom>
          <a:solidFill>
            <a:srgbClr val="1E4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657600"/>
            <a:ext cx="3383280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840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F4444"/>
                </a:solidFill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617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Duplicate Orders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5029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C5FD"/>
                </a:solidFill>
              </a:rPr>
              <a:t>Per month post-fix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3657600"/>
            <a:ext cx="3383280" cy="1965960"/>
          </a:xfrm>
          <a:prstGeom prst="rect">
            <a:avLst/>
          </a:prstGeom>
          <a:solidFill>
            <a:srgbClr val="1E4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3657600"/>
            <a:ext cx="3383280" cy="8229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3840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4B8A6"/>
                </a:solidFill>
              </a:rPr>
              <a:t>99.2%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6177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Bot Uptime (30-day)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50292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3C5FD"/>
                </a:solidFill>
              </a:rPr>
              <a:t>Exceeds 99% target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</a:rPr>
              <a:t>RPA Course · Assignment 04 · E-Commerce Order Processing Bot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Omais Siddiqui  |  April 2026  |  Built with Claude Code AI-Assisted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9E0B"/>
                </a:solidFill>
              </a:rPr>
              <a:t>All project files available in:  /Desktop/Assignment_04_RPA/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