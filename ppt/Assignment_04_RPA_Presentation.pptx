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TITLE SLIDE</a:t>
            </a:r>
            <a:br/>
            <a:br/>
            <a:r>
              <a:t>Welcome and introduce yourself:</a:t>
            </a:r>
            <a:br/>
            <a:r>
              <a:t>"Hello, I'm Omais Siddiqui. This is Assignment 04 for the RPA course — a complete case study on troubleshooting and debugging an E-Commerce Order Processing RPA Bot built on UiPath."</a:t>
            </a:r>
            <a:br/>
            <a:br/>
            <a:r>
              <a:t>Point out the two clickable links:</a:t>
            </a:r>
            <a:br/>
            <a:r>
              <a:t>- Live Website: The interactive single-page website is deployed on GitHub Pages. Click the link to open it live.</a:t>
            </a:r>
            <a:br/>
            <a:r>
              <a:t>- GitHub Repository: All source code, PowerPoint, Word documents, and the video script are available on GitHub.</a:t>
            </a:r>
            <a:br/>
            <a:br/>
            <a:r>
              <a:t>Mention the scope:</a:t>
            </a:r>
            <a:br/>
            <a:r>
              <a:t>"This case study covers five sections: RPA error documentation, a systematic debugging framework, optimization strategies, a monitoring dashboard mock-up, and how AI-assisted vibe coding was used to build this project."</a:t>
            </a:r>
            <a:br/>
            <a:br/>
            <a:r>
              <a:t>Transition: "Let's start with the agenda overview."</a:t>
            </a:r>
            <a:b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AGENDA</a:t>
            </a:r>
            <a:br/>
            <a:br/>
            <a:r>
              <a:t>"This presentation is structured into five sections."</a:t>
            </a:r>
            <a:br/>
            <a:br/>
            <a:r>
              <a:t>Walk through each card briefly:</a:t>
            </a:r>
            <a:br/>
            <a:r>
              <a:t>01 - Error Log: We documented 5 realistic UiPath exceptions with root cause analysis.</a:t>
            </a:r>
            <a:br/>
            <a:r>
              <a:t>02 - Debugging: A systematic framework covering logging, monitoring, and step-by-step resolution.</a:t>
            </a:r>
            <a:br/>
            <a:r>
              <a:t>03 - Optimization: Four improvement categories plus a measurable before/after comparison.</a:t>
            </a:r>
            <a:br/>
            <a:r>
              <a:t>04 - Dashboard: A mock monitoring UI showing what Orchestrator dashboards look like in production.</a:t>
            </a:r>
            <a:br/>
            <a:r>
              <a:t>05 - AI Usage: How Claude Code was used to build this entire project using vibe coding.</a:t>
            </a:r>
            <a:br/>
            <a:br/>
            <a:r>
              <a:t>"Each section builds on the previous, moving from problem identification to resolution to prevention."</a:t>
            </a:r>
            <a:br/>
            <a:br/>
            <a:r>
              <a:t>Transition: "Let's begin with the error documentation."</a:t>
            </a:r>
            <a:b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RPA ERROR LOG</a:t>
            </a:r>
            <a:br/>
            <a:br/>
            <a:r>
              <a:t>"Let's look at the five exceptions we encountered and documented."</a:t>
            </a:r>
            <a:br/>
            <a:br/>
            <a:r>
              <a:t>Walk through each row:</a:t>
            </a:r>
            <a:br/>
            <a:br/>
            <a:r>
              <a:t>E-01 — SelectorNotFoundException (System Exception, HIGH severity):</a:t>
            </a:r>
            <a:br/>
            <a:r>
              <a:t>"This is a classic UI automation failure. The checkout portal's frontend team renamed a CSS selector during a release, and the bot's selector library wasn't updated. This blocked approximately 120 orders per hour."</a:t>
            </a:r>
            <a:br/>
            <a:br/>
            <a:r>
              <a:t>E-02 — InvalidOrderDataException (Business Exception, HIGH):</a:t>
            </a:r>
            <a:br/>
            <a:r>
              <a:t>"A data contract issue. The ERP system began exporting international orders without the postal code field. The bot had no input schema validation, so these orders would silently fail in the shipping module downstream."</a:t>
            </a:r>
            <a:br/>
            <a:br/>
            <a:r>
              <a:t>E-03 — OracleDBTimeoutException (System Exception, HIGH):</a:t>
            </a:r>
            <a:br/>
            <a:r>
              <a:t>"An infrastructure problem. The inventory table lacked a composite index. Under peak load with 50 concurrent bot instances, every inventory check triggered a full table scan, timing out at 30 seconds and causing 400+ units to be oversold weekly."</a:t>
            </a:r>
            <a:br/>
            <a:br/>
            <a:r>
              <a:t>E-04 — DuplicateOrderException (Business Exception, MEDIUM):</a:t>
            </a:r>
            <a:br/>
            <a:r>
              <a:t>"A retry logic flaw. When a network timeout occurred mid-POST, the bot retried without checking if the original request had already succeeded — charging customers twice."</a:t>
            </a:r>
            <a:br/>
            <a:br/>
            <a:r>
              <a:t>E-05 — PDFParsingFailureException (Application Exception, LOW):</a:t>
            </a:r>
            <a:br/>
            <a:r>
              <a:t>"A dependency change issue. The vendor switched from text-layer PDFs to scanned image PDFs. Without OCR enabled, the parser returned null fields, requiring 1.5 hours of manual invoice re-generation daily."</a:t>
            </a:r>
            <a:br/>
            <a:br/>
            <a:r>
              <a:t>Transition: "Now let's look at how we debug and resolve these systematically."</a:t>
            </a:r>
            <a:b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DEBUGGING STRATEGY</a:t>
            </a:r>
            <a:br/>
            <a:br/>
            <a:r>
              <a:t>"Our debugging framework has four pillars."</a:t>
            </a:r>
            <a:br/>
            <a:br/>
            <a:r>
              <a:t>📋 Logging:</a:t>
            </a:r>
            <a:br/>
            <a:r>
              <a:t>"Every log entry carries a CorrelationID so we can trace a single order across multiple microservices — from ERP extraction through checkout portal to invoice generation. Exceptions automatically trigger a screenshot saved with the OrderID and timestamp."</a:t>
            </a:r>
            <a:br/>
            <a:br/>
            <a:r>
              <a:t>📊 Monitoring:</a:t>
            </a:r>
            <a:br/>
            <a:r>
              <a:t>"Orchestrator KPIs refresh every 60 seconds. PagerDuty fires if success rate drops below 90%, error rate exceeds 5%, or a bot becomes unresponsive for more than 5 minutes. SLA violations — orders older than 4 hours — trigger an automated email to the Operations Manager."</a:t>
            </a:r>
            <a:br/>
            <a:br/>
            <a:r>
              <a:t>🔁 Reproduction:</a:t>
            </a:r>
            <a:br/>
            <a:r>
              <a:t>"We never fix what we can't reproduce consistently. The process: isolate the failing transaction from the Orchestrator queue, clone the environment state including app version and DB snapshot, replay in UiPath's Debug mode with Step Into, and confirm the error three times before writing a single line of fix code."</a:t>
            </a:r>
            <a:br/>
            <a:br/>
            <a:r>
              <a:t>🔄 Retry Logic:</a:t>
            </a:r>
            <a:br/>
            <a:r>
              <a:t>"RetryScope is configured with 3 retries and a 5-second backoff. Critically — the idempotency key check happens BEFORE the order POST, not after. This alone eliminates all duplicate order incidents."</a:t>
            </a:r>
            <a:br/>
            <a:br/>
            <a:r>
              <a:t>Transition: "The next slide shows these four pillars connected into a single decision flow."</a:t>
            </a:r>
            <a:b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DEBUGGING DECISION FLOW</a:t>
            </a:r>
            <a:br/>
            <a:br/>
            <a:r>
              <a:t>"This flow is the connective tissue of our entire debugging strategy — 10 steps from error detection to incident closure."</a:t>
            </a:r>
            <a:br/>
            <a:br/>
            <a:r>
              <a:t>Walk through the flow:</a:t>
            </a:r>
            <a:br/>
            <a:r>
              <a:t>Steps 1-3: "Error detected → Structured log captured → PagerDuty alert triggered. This happens automatically in under 30 seconds."</a:t>
            </a:r>
            <a:br/>
            <a:br/>
            <a:r>
              <a:t>Step 4 — Classify: "This is the critical branch point. Is it a System, Business, or Application exception? The classification determines the entire handling path."</a:t>
            </a:r>
            <a:br/>
            <a:br/>
            <a:r>
              <a:t>System path: "Auto-retry up to 3 times with backoff. If it persists, the bot pauses itself and notifies DevOps. A hotfix is deployed — typically a selector library update or infrastructure fix."</a:t>
            </a:r>
            <a:br/>
            <a:br/>
            <a:r>
              <a:t>Business path: "No automated retry — the transaction moves to the Exception Queue for human review within 2 hours. A human verifies and corrects the data, then re-queues the order."</a:t>
            </a:r>
            <a:br/>
            <a:br/>
            <a:r>
              <a:t>App path: "The fallback pipeline activates: OCR pre-processing is enabled, the order is rerouted to the Tesseract parser, and the vendor is notified of the template change."</a:t>
            </a:r>
            <a:br/>
            <a:br/>
            <a:r>
              <a:t>Steps 6-10: "Apply fix → Test on 50 orders → Deploy to production → Monitor for 24 hours → Close the incident with root cause documentation in the runbook."</a:t>
            </a:r>
            <a:br/>
            <a:br/>
            <a:r>
              <a:t>"This systematic approach reduces MTTR — Mean Time to Resolution — from hours to minutes."</a:t>
            </a:r>
            <a:b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OPTIMIZATION STRATEGIES</a:t>
            </a:r>
            <a:br/>
            <a:br/>
            <a:r>
              <a:t>"Once we understand the errors and can debug them, the next step is preventing them and improving overall performance."</a:t>
            </a:r>
            <a:br/>
            <a:br/>
            <a:r>
              <a:t>⚡ Performance:</a:t>
            </a:r>
            <a:br/>
            <a:r>
              <a:t>"The biggest win was parallelism — splitting the order queue into 5 concurrent bot lanes multiplied throughput by 5×. Adding a composite database index eliminated the E-03 timeout completely, dropping query time from 30 seconds to under 200 milliseconds."</a:t>
            </a:r>
            <a:br/>
            <a:br/>
            <a:r>
              <a:t>🛡️ Reliability:</a:t>
            </a:r>
            <a:br/>
            <a:r>
              <a:t>"Idempotency keys are the fix for E-04 — every order gets a UUID generated before the POST. If the bot retries, it checks the key first and skips if already processed. Dynamic anchor-based selectors solved E-01 — the bot no longer depends on a single fragile CSS class name."</a:t>
            </a:r>
            <a:br/>
            <a:br/>
            <a:r>
              <a:t>🔧 Maintainability:</a:t>
            </a:r>
            <a:br/>
            <a:r>
              <a:t>"All selectors are now stored in Orchestrator assets — a single update point. When the frontend changes, we update one asset and all 5 bot instances pick it up on their next transaction. Configuration parameters like batch sizes and retry counts are also asset-driven — zero code deployments needed for tuning."</a:t>
            </a:r>
            <a:br/>
            <a:br/>
            <a:r>
              <a:t>🗓️ Scheduling:</a:t>
            </a:r>
            <a:br/>
            <a:r>
              <a:t>"The bot scales dynamically: 5 instances during peak business hours, 2 during off-peak, and a dedicated 2AM–4AM maintenance window for deployments that avoids any business impact. VIP orders — same-day delivery — jump the queue with a 15-minute SLA guarantee."</a:t>
            </a:r>
            <a:br/>
            <a:br/>
            <a:r>
              <a:t>Transition: "The next slide shows the measurable impact of all these changes."</a:t>
            </a:r>
            <a:b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BEFORE VS. AFTER COMPARISON</a:t>
            </a:r>
            <a:br/>
            <a:br/>
            <a:r>
              <a:t>"The numbers tell the story of what systematic debugging and optimization deliver."</a:t>
            </a:r>
            <a:br/>
            <a:br/>
            <a:r>
              <a:t>Walk through the key pairs:</a:t>
            </a:r>
            <a:br/>
            <a:br/>
            <a:r>
              <a:t>Success Rate: "71% to 97.4% — a 26 percentage point improvement. Before optimization, nearly 1 in 3 orders required manual intervention. After, less than 1 in 40 fails."</a:t>
            </a:r>
            <a:br/>
            <a:br/>
            <a:r>
              <a:t>Processing Time: "4.2 minutes to 1.8 minutes per order — 57% faster. When you multiply this across thousands of orders daily, this is hours of throughput reclaimed."</a:t>
            </a:r>
            <a:br/>
            <a:br/>
            <a:r>
              <a:t>Duplicate Orders: "12 incidents per week to zero. This is the idempotency key fix for E-04. Zero duplicate charges to customers in 30 days post-deployment."</a:t>
            </a:r>
            <a:br/>
            <a:br/>
            <a:r>
              <a:t>Database Timeouts: "From 80+ per peak hour to eliminated. The composite index on product_sku and warehouse_id was a single database change that fixed E-03 completely."</a:t>
            </a:r>
            <a:br/>
            <a:br/>
            <a:r>
              <a:t>Manual Overhead: "3.5 hours per day of manual invoice re-generation down to 12 minutes. That's 96% of time returned to the operations team — from OCR pipeline enabling and the PDF routing fix for E-05."</a:t>
            </a:r>
            <a:br/>
            <a:br/>
            <a:r>
              <a:t>Throughput: "120 orders per hour to 600. Five bot instances instead of one. Same infrastructure, 5× output."</a:t>
            </a:r>
            <a:br/>
            <a:br/>
            <a:r>
              <a:t>Config Changes: "Previously required a full code deployment — staging, testing, approval, release. Now a parameter change in Orchestrator assets takes effect on the next transaction with zero downtime."</a:t>
            </a:r>
            <a:b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MONITORING DASHBOARD KPIs</a:t>
            </a:r>
            <a:br/>
            <a:br/>
            <a:r>
              <a:t>"This slide represents what the UiPath Orchestrator monitoring dashboard looks like in production — post-optimization."</a:t>
            </a:r>
            <a:br/>
            <a:br/>
            <a:r>
              <a:t>Walk through each KPI card:</a:t>
            </a:r>
            <a:br/>
            <a:br/>
            <a:r>
              <a:t>Total Orders Today — 4,827:</a:t>
            </a:r>
            <a:br/>
            <a:r>
              <a:t>"Volume metric showing today's order throughput. Up 12% versus yesterday. The 5-bot parallel architecture handles this comfortably."</a:t>
            </a:r>
            <a:br/>
            <a:br/>
            <a:r>
              <a:t>Success Rate — 97.4%:</a:t>
            </a:r>
            <a:br/>
            <a:r>
              <a:t>"Our most important KPI. The SLA target is 95%. We're exceeding it by 2.4 points. PagerDuty alerts fire if this drops below 90%."</a:t>
            </a:r>
            <a:br/>
            <a:br/>
            <a:r>
              <a:t>Failed Orders — 125 (2.6%):</a:t>
            </a:r>
            <a:br/>
            <a:r>
              <a:t>"Down 43% compared to pre-optimization. The remaining failures are mostly in the dead letter queue — unresolvable orders requiring manual investigation."</a:t>
            </a:r>
            <a:br/>
            <a:br/>
            <a:r>
              <a:t>Retries Executed — 218:</a:t>
            </a:r>
            <a:br/>
            <a:r>
              <a:t>"4.5% of total orders required at least one retry. This is down 60% from before. The circuit breaker prevents retry storms when the database is under stress."</a:t>
            </a:r>
            <a:br/>
            <a:br/>
            <a:r>
              <a:t>Avg Processing Time — 1.8 minutes:</a:t>
            </a:r>
            <a:br/>
            <a:r>
              <a:t>"Per-order average including all workflow stages. Well under our 4-minute SLA target."</a:t>
            </a:r>
            <a:br/>
            <a:br/>
            <a:r>
              <a:t>Bot Uptime — 99.2% over 30 days:</a:t>
            </a:r>
            <a:br/>
            <a:r>
              <a:t>"Exceeds our 99% availability target. The heartbeat monitoring and automatic bot restart on crash contribute to this high uptime."</a:t>
            </a:r>
            <a:br/>
            <a:br/>
            <a:r>
              <a:t>Transition: "The full interactive dashboard is available on the live website — click the link on Slide 1 to see it."</a:t>
            </a:r>
            <a:b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AI-ASSISTED DEVELOPMENT (VIBE CODING)</a:t>
            </a:r>
            <a:br/>
            <a:br/>
            <a:r>
              <a:t>"The final section explains how this entire project was built using AI-assisted development with Claude Code."</a:t>
            </a:r>
            <a:br/>
            <a:br/>
            <a:r>
              <a:t>Define vibe coding:</a:t>
            </a:r>
            <a:br/>
            <a:r>
              <a:t>"Vibe coding is a term coined for AI-assisted development where you describe your intent in natural language and the AI generates the implementation. You stay in the role of architect and quality reviewer — the AI is the implementation engine."</a:t>
            </a:r>
            <a:br/>
            <a:br/>
            <a:r>
              <a:t>Walk through each card:</a:t>
            </a:r>
            <a:br/>
            <a:br/>
            <a:r>
              <a:t>Prompt Engineering: "The entire assignment brief was given to Claude Code as a single natural language prompt. It analyzed the requirements and structured the full five-section architecture, data models, and visual hierarchy without any manual outline."</a:t>
            </a:r>
            <a:br/>
            <a:br/>
            <a:r>
              <a:t>UI/UX Generation: "I described the look: 'enterprise-style, navy and gold color scheme, card-based layout, clean academic feel.' Claude Code converted those adjectives into specific CSS variables, linear gradient definitions, and responsive grid systems."</a:t>
            </a:r>
            <a:br/>
            <a:br/>
            <a:r>
              <a:t>Domain Synthesis: "I didn't write the error descriptions manually. I provided the domain context — UiPath RPA, e-commerce order processing — and Claude synthesized technically accurate exception names, root causes, and business impact statements."</a:t>
            </a:r>
            <a:br/>
            <a:br/>
            <a:r>
              <a:t>Iterative Refinement: "The debugging decision flow started as a simple bullet list. I typed 'make it visual with a horizontal arrow-connected step flow' — and Claude restructured it in seconds."</a:t>
            </a:r>
            <a:br/>
            <a:br/>
            <a:r>
              <a:t>Full Stack Generation: "Beyond the website, Claude Code also wrote the Python scripts that generated this PowerPoint, the Word documents, and set up the GitHub repository — all from conversational prompts in the terminal."</a:t>
            </a:r>
            <a:br/>
            <a:br/>
            <a:r>
              <a:t>Key insight: "AI doesn't replace domain expertise — it amplifies it. I needed to know what RPA errors are realistic, what optimizations matter, what KPIs to track. The AI turned that knowledge into a professional deliverable."</a:t>
            </a:r>
            <a:b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KEY RESULTS SUMMARY</a:t>
            </a:r>
            <a:br/>
            <a:br/>
            <a:r>
              <a:t>"Before I close, here's the headline summary of what this case study achieved."</a:t>
            </a:r>
            <a:br/>
            <a:br/>
            <a:r>
              <a:t>Read through the six metrics with emphasis:</a:t>
            </a:r>
            <a:br/>
            <a:br/>
            <a:r>
              <a:t>↑26% Success Rate: "The single most important metric. From 71% to 97.4% — the bot went from unreliable to enterprise-grade."</a:t>
            </a:r>
            <a:br/>
            <a:br/>
            <a:r>
              <a:t>5× Throughput: "Five times more orders processed per hour with the same infrastructure. Pure efficiency gain from parallel bot lanes."</a:t>
            </a:r>
            <a:br/>
            <a:br/>
            <a:r>
              <a:t>57% Faster: "Each order now processes in 1.8 minutes versus 4.2 minutes. Customers receive confirmations faster, stock is updated sooner."</a:t>
            </a:r>
            <a:br/>
            <a:br/>
            <a:r>
              <a:t>96% Manual Work Reduced: "Operations staff went from spending 3.5 hours every day on manual workarounds to 12 minutes. That's nearly an entire workday returned."</a:t>
            </a:r>
            <a:br/>
            <a:br/>
            <a:r>
              <a:t>0 Duplicate Orders: "Zero. Complete elimination of duplicate charges. No more finance reconciliation incidents. No more customer complaints about double billing."</a:t>
            </a:r>
            <a:br/>
            <a:br/>
            <a:r>
              <a:t>99.2% Uptime: "Exceeds the 99% SLA target. The bot is more reliable than most internal systems."</a:t>
            </a:r>
            <a:br/>
            <a:br/>
            <a:r>
              <a:t>"These aren't theoretical projections — they're the result of applying systematic debugging and targeted optimizations to real, documented failures."</a:t>
            </a:r>
            <a:b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CLOSING SLIDE</a:t>
            </a:r>
            <a:br/>
            <a:br/>
            <a:r>
              <a:t>"Thank you for your time. Let me leave you with the two most important links."</a:t>
            </a:r>
            <a:br/>
            <a:br/>
            <a:r>
              <a:t>Live Website:</a:t>
            </a:r>
            <a:br/>
            <a:r>
              <a:t>"The complete interactive website is live on GitHub Pages. Click the blue button to open it in your browser — all five sections are navigable with the sticky top navigation."</a:t>
            </a:r>
            <a:br/>
            <a:r>
              <a:t>URL: https://omais-eng.github.io/assignment-04-rpa-bot-troubleshooting/</a:t>
            </a:r>
            <a:br/>
            <a:br/>
            <a:r>
              <a:t>GitHub Repository:</a:t>
            </a:r>
            <a:br/>
            <a:r>
              <a:t>"All project files are on GitHub — the full HTML source code, this PowerPoint file, four Word documents (one per section), the video script, and the README."</a:t>
            </a:r>
            <a:br/>
            <a:r>
              <a:t>URL: https://github.com/omais-eng/assignment-04-rpa-bot-troubleshooting</a:t>
            </a:r>
            <a:br/>
            <a:br/>
            <a:r>
              <a:t>Local file (if offline):</a:t>
            </a:r>
            <a:br/>
            <a:r>
              <a:t>"If you're viewing this offline, the website also works as a local file at the path shown at the bottom of this slide — just open it in any browser, no build tools required."</a:t>
            </a:r>
            <a:br/>
            <a:br/>
            <a:r>
              <a:t>"Questions welcome. This case study demonstrates that systematic RPA debugging — combined with AI-assisted development — can transform a 71% success rate into 97.4%, five times the throughput, and near-zero manual overhead."</a:t>
            </a:r>
            <a:b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mais-eng.github.io/assignment-04-rpa-bot-troubleshooting/" TargetMode="External"/><Relationship Id="rId3" Type="http://schemas.openxmlformats.org/officeDocument/2006/relationships/hyperlink" Target="https://github.com/omais-eng/assignment-04-rpa-bot-troubleshooting" TargetMode="Externa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mais-eng.github.io/assignment-04-rpa-bot-troubleshooting/" TargetMode="External"/><Relationship Id="rId3" Type="http://schemas.openxmlformats.org/officeDocument/2006/relationships/hyperlink" Target="https://github.com/omais-eng/assignment-04-rpa-bot-troubleshooting" TargetMode="External"/><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5303520"/>
            <a:ext cx="12188952" cy="10972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058400" cy="457200"/>
          </a:xfrm>
          <a:prstGeom prst="rect">
            <a:avLst/>
          </a:prstGeom>
          <a:noFill/>
        </p:spPr>
        <p:txBody>
          <a:bodyPr wrap="square">
            <a:spAutoFit/>
          </a:bodyPr>
          <a:lstStyle/>
          <a:p>
            <a:pPr algn="ctr"/>
            <a:r>
              <a:rPr sz="1100" b="1">
                <a:solidFill>
                  <a:srgbClr val="F59E0B"/>
                </a:solidFill>
              </a:rPr>
              <a:t>RPA COURSE  ·  ASSIGNMENT 04</a:t>
            </a:r>
          </a:p>
        </p:txBody>
      </p:sp>
      <p:sp>
        <p:nvSpPr>
          <p:cNvPr id="4" name="TextBox 3"/>
          <p:cNvSpPr txBox="1"/>
          <p:nvPr/>
        </p:nvSpPr>
        <p:spPr>
          <a:xfrm>
            <a:off x="914400" y="1188720"/>
            <a:ext cx="10058400" cy="822960"/>
          </a:xfrm>
          <a:prstGeom prst="rect">
            <a:avLst/>
          </a:prstGeom>
          <a:noFill/>
        </p:spPr>
        <p:txBody>
          <a:bodyPr wrap="square">
            <a:spAutoFit/>
          </a:bodyPr>
          <a:lstStyle/>
          <a:p>
            <a:pPr algn="ctr"/>
            <a:r>
              <a:rPr sz="3200" b="1">
                <a:solidFill>
                  <a:srgbClr val="FFFFFF"/>
                </a:solidFill>
              </a:rPr>
              <a:t>E-Commerce Order Processing</a:t>
            </a:r>
          </a:p>
        </p:txBody>
      </p:sp>
      <p:sp>
        <p:nvSpPr>
          <p:cNvPr id="5" name="TextBox 4"/>
          <p:cNvSpPr txBox="1"/>
          <p:nvPr/>
        </p:nvSpPr>
        <p:spPr>
          <a:xfrm>
            <a:off x="914400" y="2011680"/>
            <a:ext cx="10058400" cy="731520"/>
          </a:xfrm>
          <a:prstGeom prst="rect">
            <a:avLst/>
          </a:prstGeom>
          <a:noFill/>
        </p:spPr>
        <p:txBody>
          <a:bodyPr wrap="square">
            <a:spAutoFit/>
          </a:bodyPr>
          <a:lstStyle/>
          <a:p>
            <a:pPr algn="ctr"/>
            <a:r>
              <a:rPr sz="2200" b="0">
                <a:solidFill>
                  <a:srgbClr val="93C5FD"/>
                </a:solidFill>
              </a:rPr>
              <a:t>RPA Bot — Troubleshooting &amp; Debugging Case Study</a:t>
            </a:r>
          </a:p>
        </p:txBody>
      </p:sp>
      <p:sp>
        <p:nvSpPr>
          <p:cNvPr id="6" name="TextBox 5"/>
          <p:cNvSpPr txBox="1"/>
          <p:nvPr/>
        </p:nvSpPr>
        <p:spPr>
          <a:xfrm>
            <a:off x="914400" y="2834640"/>
            <a:ext cx="10058400" cy="822960"/>
          </a:xfrm>
          <a:prstGeom prst="rect">
            <a:avLst/>
          </a:prstGeom>
          <a:noFill/>
        </p:spPr>
        <p:txBody>
          <a:bodyPr wrap="square">
            <a:spAutoFit/>
          </a:bodyPr>
          <a:lstStyle/>
          <a:p>
            <a:pPr algn="ctr"/>
            <a:r>
              <a:rPr sz="1300" b="0">
                <a:solidFill>
                  <a:srgbClr val="94A3B8"/>
                </a:solidFill>
              </a:rPr>
              <a:t>A comprehensive study on diagnosing, debugging, and optimizing a
UiPath RPA bot for end-to-end e-commerce order processing</a:t>
            </a:r>
          </a:p>
        </p:txBody>
      </p:sp>
      <p:sp>
        <p:nvSpPr>
          <p:cNvPr id="7" name="TextBox 6"/>
          <p:cNvSpPr txBox="1"/>
          <p:nvPr/>
        </p:nvSpPr>
        <p:spPr>
          <a:xfrm>
            <a:off x="914400" y="5486400"/>
            <a:ext cx="10058400" cy="365760"/>
          </a:xfrm>
          <a:prstGeom prst="rect">
            <a:avLst/>
          </a:prstGeom>
          <a:noFill/>
        </p:spPr>
        <p:txBody>
          <a:bodyPr wrap="square">
            <a:spAutoFit/>
          </a:bodyPr>
          <a:lstStyle/>
          <a:p>
            <a:pPr algn="ctr"/>
            <a:r>
              <a:rPr sz="1100" b="0">
                <a:solidFill>
                  <a:srgbClr val="64748B"/>
                </a:solidFill>
              </a:rPr>
              <a:t>Student: Omais Siddiqui     |     Platform: UiPath + Orchestrator     |     April 2026</a:t>
            </a:r>
          </a:p>
        </p:txBody>
      </p:sp>
      <p:sp>
        <p:nvSpPr>
          <p:cNvPr id="8" name="TextBox 7"/>
          <p:cNvSpPr txBox="1"/>
          <p:nvPr/>
        </p:nvSpPr>
        <p:spPr>
          <a:xfrm>
            <a:off x="1371600" y="3931920"/>
            <a:ext cx="4114800" cy="457200"/>
          </a:xfrm>
          <a:prstGeom prst="rect">
            <a:avLst/>
          </a:prstGeom>
          <a:solidFill>
            <a:srgbClr val="1E4A76"/>
          </a:solidFill>
          <a:ln>
            <a:solidFill>
              <a:srgbClr val="2563EB"/>
            </a:solidFill>
          </a:ln>
        </p:spPr>
        <p:txBody>
          <a:bodyPr wrap="none">
            <a:spAutoFit/>
          </a:bodyPr>
          <a:lstStyle/>
          <a:p>
            <a:pPr algn="ctr"/>
            <a:r>
              <a:rPr sz="1100" b="1">
                <a:solidFill>
                  <a:srgbClr val="2563EB"/>
                </a:solidFill>
                <a:hlinkClick r:id="rId2"/>
              </a:rPr>
              <a:t>🔗  🌐 Live Website</a:t>
            </a:r>
          </a:p>
        </p:txBody>
      </p:sp>
      <p:sp>
        <p:nvSpPr>
          <p:cNvPr id="9" name="TextBox 8"/>
          <p:cNvSpPr txBox="1"/>
          <p:nvPr/>
        </p:nvSpPr>
        <p:spPr>
          <a:xfrm>
            <a:off x="6675120" y="3931920"/>
            <a:ext cx="4114800" cy="457200"/>
          </a:xfrm>
          <a:prstGeom prst="rect">
            <a:avLst/>
          </a:prstGeom>
          <a:solidFill>
            <a:srgbClr val="1E4A76"/>
          </a:solidFill>
          <a:ln>
            <a:solidFill>
              <a:srgbClr val="2563EB"/>
            </a:solidFill>
          </a:ln>
        </p:spPr>
        <p:txBody>
          <a:bodyPr wrap="none">
            <a:spAutoFit/>
          </a:bodyPr>
          <a:lstStyle/>
          <a:p>
            <a:pPr algn="ctr"/>
            <a:r>
              <a:rPr sz="1100" b="1">
                <a:solidFill>
                  <a:srgbClr val="2563EB"/>
                </a:solidFill>
                <a:hlinkClick r:id="rId3"/>
              </a:rPr>
              <a:t>🔗  GitHub Repository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600" b="1">
                <a:solidFill>
                  <a:srgbClr val="FFFFFF"/>
                </a:solidFill>
              </a:rPr>
              <a:t>Presentation Agenda</a:t>
            </a:r>
          </a:p>
        </p:txBody>
      </p:sp>
      <p:sp>
        <p:nvSpPr>
          <p:cNvPr id="4" name="Rectangle 3"/>
          <p:cNvSpPr/>
          <p:nvPr/>
        </p:nvSpPr>
        <p:spPr>
          <a:xfrm>
            <a:off x="365760" y="1280160"/>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280160"/>
            <a:ext cx="356616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17319"/>
            <a:ext cx="640080" cy="502920"/>
          </a:xfrm>
          <a:prstGeom prst="rect">
            <a:avLst/>
          </a:prstGeom>
          <a:noFill/>
        </p:spPr>
        <p:txBody>
          <a:bodyPr wrap="square">
            <a:spAutoFit/>
          </a:bodyPr>
          <a:lstStyle/>
          <a:p>
            <a:pPr algn="l"/>
            <a:r>
              <a:rPr sz="2800" b="1">
                <a:solidFill>
                  <a:srgbClr val="2563EB"/>
                </a:solidFill>
              </a:rPr>
              <a:t>01</a:t>
            </a:r>
          </a:p>
        </p:txBody>
      </p:sp>
      <p:sp>
        <p:nvSpPr>
          <p:cNvPr id="7" name="TextBox 6"/>
          <p:cNvSpPr txBox="1"/>
          <p:nvPr/>
        </p:nvSpPr>
        <p:spPr>
          <a:xfrm>
            <a:off x="502920" y="1965960"/>
            <a:ext cx="3291840" cy="411480"/>
          </a:xfrm>
          <a:prstGeom prst="rect">
            <a:avLst/>
          </a:prstGeom>
          <a:noFill/>
        </p:spPr>
        <p:txBody>
          <a:bodyPr wrap="square">
            <a:spAutoFit/>
          </a:bodyPr>
          <a:lstStyle/>
          <a:p>
            <a:pPr algn="l"/>
            <a:r>
              <a:rPr sz="1400" b="1">
                <a:solidFill>
                  <a:srgbClr val="1A3A5C"/>
                </a:solidFill>
              </a:rPr>
              <a:t>RPA Error Log</a:t>
            </a:r>
          </a:p>
        </p:txBody>
      </p:sp>
      <p:sp>
        <p:nvSpPr>
          <p:cNvPr id="8" name="TextBox 7"/>
          <p:cNvSpPr txBox="1"/>
          <p:nvPr/>
        </p:nvSpPr>
        <p:spPr>
          <a:xfrm>
            <a:off x="502920" y="2377439"/>
            <a:ext cx="3291840" cy="822960"/>
          </a:xfrm>
          <a:prstGeom prst="rect">
            <a:avLst/>
          </a:prstGeom>
          <a:noFill/>
        </p:spPr>
        <p:txBody>
          <a:bodyPr wrap="square">
            <a:spAutoFit/>
          </a:bodyPr>
          <a:lstStyle/>
          <a:p>
            <a:pPr algn="l"/>
            <a:r>
              <a:rPr sz="1000" b="0">
                <a:solidFill>
                  <a:srgbClr val="64748B"/>
                </a:solidFill>
              </a:rPr>
              <a:t>5 realistic exceptions across workflow stages</a:t>
            </a:r>
          </a:p>
        </p:txBody>
      </p:sp>
      <p:sp>
        <p:nvSpPr>
          <p:cNvPr id="9" name="Rectangle 8"/>
          <p:cNvSpPr/>
          <p:nvPr/>
        </p:nvSpPr>
        <p:spPr>
          <a:xfrm>
            <a:off x="4297680" y="1280160"/>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0" y="1280160"/>
            <a:ext cx="356616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1417319"/>
            <a:ext cx="640080" cy="502920"/>
          </a:xfrm>
          <a:prstGeom prst="rect">
            <a:avLst/>
          </a:prstGeom>
          <a:noFill/>
        </p:spPr>
        <p:txBody>
          <a:bodyPr wrap="square">
            <a:spAutoFit/>
          </a:bodyPr>
          <a:lstStyle/>
          <a:p>
            <a:pPr algn="l"/>
            <a:r>
              <a:rPr sz="2800" b="1">
                <a:solidFill>
                  <a:srgbClr val="10B981"/>
                </a:solidFill>
              </a:rPr>
              <a:t>02</a:t>
            </a:r>
          </a:p>
        </p:txBody>
      </p:sp>
      <p:sp>
        <p:nvSpPr>
          <p:cNvPr id="12" name="TextBox 11"/>
          <p:cNvSpPr txBox="1"/>
          <p:nvPr/>
        </p:nvSpPr>
        <p:spPr>
          <a:xfrm>
            <a:off x="4434840" y="1965960"/>
            <a:ext cx="3291840" cy="411480"/>
          </a:xfrm>
          <a:prstGeom prst="rect">
            <a:avLst/>
          </a:prstGeom>
          <a:noFill/>
        </p:spPr>
        <p:txBody>
          <a:bodyPr wrap="square">
            <a:spAutoFit/>
          </a:bodyPr>
          <a:lstStyle/>
          <a:p>
            <a:pPr algn="l"/>
            <a:r>
              <a:rPr sz="1400" b="1">
                <a:solidFill>
                  <a:srgbClr val="1A3A5C"/>
                </a:solidFill>
              </a:rPr>
              <a:t>Debugging Strategy</a:t>
            </a:r>
          </a:p>
        </p:txBody>
      </p:sp>
      <p:sp>
        <p:nvSpPr>
          <p:cNvPr id="13" name="TextBox 12"/>
          <p:cNvSpPr txBox="1"/>
          <p:nvPr/>
        </p:nvSpPr>
        <p:spPr>
          <a:xfrm>
            <a:off x="4434840" y="2377439"/>
            <a:ext cx="3291840" cy="822960"/>
          </a:xfrm>
          <a:prstGeom prst="rect">
            <a:avLst/>
          </a:prstGeom>
          <a:noFill/>
        </p:spPr>
        <p:txBody>
          <a:bodyPr wrap="square">
            <a:spAutoFit/>
          </a:bodyPr>
          <a:lstStyle/>
          <a:p>
            <a:pPr algn="l"/>
            <a:r>
              <a:rPr sz="1000" b="0">
                <a:solidFill>
                  <a:srgbClr val="64748B"/>
                </a:solidFill>
              </a:rPr>
              <a:t>Logging, monitoring, retry logic, decision flow</a:t>
            </a:r>
          </a:p>
        </p:txBody>
      </p:sp>
      <p:sp>
        <p:nvSpPr>
          <p:cNvPr id="14" name="Rectangle 13"/>
          <p:cNvSpPr/>
          <p:nvPr/>
        </p:nvSpPr>
        <p:spPr>
          <a:xfrm>
            <a:off x="8229600" y="1280160"/>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0" y="1280160"/>
            <a:ext cx="356616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417319"/>
            <a:ext cx="640080" cy="502920"/>
          </a:xfrm>
          <a:prstGeom prst="rect">
            <a:avLst/>
          </a:prstGeom>
          <a:noFill/>
        </p:spPr>
        <p:txBody>
          <a:bodyPr wrap="square">
            <a:spAutoFit/>
          </a:bodyPr>
          <a:lstStyle/>
          <a:p>
            <a:pPr algn="l"/>
            <a:r>
              <a:rPr sz="2800" b="1">
                <a:solidFill>
                  <a:srgbClr val="F59E0B"/>
                </a:solidFill>
              </a:rPr>
              <a:t>03</a:t>
            </a:r>
          </a:p>
        </p:txBody>
      </p:sp>
      <p:sp>
        <p:nvSpPr>
          <p:cNvPr id="17" name="TextBox 16"/>
          <p:cNvSpPr txBox="1"/>
          <p:nvPr/>
        </p:nvSpPr>
        <p:spPr>
          <a:xfrm>
            <a:off x="8366760" y="1965960"/>
            <a:ext cx="3291840" cy="411480"/>
          </a:xfrm>
          <a:prstGeom prst="rect">
            <a:avLst/>
          </a:prstGeom>
          <a:noFill/>
        </p:spPr>
        <p:txBody>
          <a:bodyPr wrap="square">
            <a:spAutoFit/>
          </a:bodyPr>
          <a:lstStyle/>
          <a:p>
            <a:pPr algn="l"/>
            <a:r>
              <a:rPr sz="1400" b="1">
                <a:solidFill>
                  <a:srgbClr val="1A3A5C"/>
                </a:solidFill>
              </a:rPr>
              <a:t>Optimization</a:t>
            </a:r>
          </a:p>
        </p:txBody>
      </p:sp>
      <p:sp>
        <p:nvSpPr>
          <p:cNvPr id="18" name="TextBox 17"/>
          <p:cNvSpPr txBox="1"/>
          <p:nvPr/>
        </p:nvSpPr>
        <p:spPr>
          <a:xfrm>
            <a:off x="8366760" y="2377439"/>
            <a:ext cx="3291840" cy="822960"/>
          </a:xfrm>
          <a:prstGeom prst="rect">
            <a:avLst/>
          </a:prstGeom>
          <a:noFill/>
        </p:spPr>
        <p:txBody>
          <a:bodyPr wrap="square">
            <a:spAutoFit/>
          </a:bodyPr>
          <a:lstStyle/>
          <a:p>
            <a:pPr algn="l"/>
            <a:r>
              <a:rPr sz="1000" b="0">
                <a:solidFill>
                  <a:srgbClr val="64748B"/>
                </a:solidFill>
              </a:rPr>
              <a:t>Performance, reliability, scheduling, before/after</a:t>
            </a:r>
          </a:p>
        </p:txBody>
      </p:sp>
      <p:sp>
        <p:nvSpPr>
          <p:cNvPr id="19" name="Rectangle 18"/>
          <p:cNvSpPr/>
          <p:nvPr/>
        </p:nvSpPr>
        <p:spPr>
          <a:xfrm>
            <a:off x="365760" y="3840479"/>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3840479"/>
            <a:ext cx="356616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977639"/>
            <a:ext cx="640080" cy="502920"/>
          </a:xfrm>
          <a:prstGeom prst="rect">
            <a:avLst/>
          </a:prstGeom>
          <a:noFill/>
        </p:spPr>
        <p:txBody>
          <a:bodyPr wrap="square">
            <a:spAutoFit/>
          </a:bodyPr>
          <a:lstStyle/>
          <a:p>
            <a:pPr algn="l"/>
            <a:r>
              <a:rPr sz="2800" b="1">
                <a:solidFill>
                  <a:srgbClr val="EF4444"/>
                </a:solidFill>
              </a:rPr>
              <a:t>04</a:t>
            </a:r>
          </a:p>
        </p:txBody>
      </p:sp>
      <p:sp>
        <p:nvSpPr>
          <p:cNvPr id="22" name="TextBox 21"/>
          <p:cNvSpPr txBox="1"/>
          <p:nvPr/>
        </p:nvSpPr>
        <p:spPr>
          <a:xfrm>
            <a:off x="502920" y="4526279"/>
            <a:ext cx="3291840" cy="411480"/>
          </a:xfrm>
          <a:prstGeom prst="rect">
            <a:avLst/>
          </a:prstGeom>
          <a:noFill/>
        </p:spPr>
        <p:txBody>
          <a:bodyPr wrap="square">
            <a:spAutoFit/>
          </a:bodyPr>
          <a:lstStyle/>
          <a:p>
            <a:pPr algn="l"/>
            <a:r>
              <a:rPr sz="1400" b="1">
                <a:solidFill>
                  <a:srgbClr val="1A3A5C"/>
                </a:solidFill>
              </a:rPr>
              <a:t>Monitoring Dashboard</a:t>
            </a:r>
          </a:p>
        </p:txBody>
      </p:sp>
      <p:sp>
        <p:nvSpPr>
          <p:cNvPr id="23" name="TextBox 22"/>
          <p:cNvSpPr txBox="1"/>
          <p:nvPr/>
        </p:nvSpPr>
        <p:spPr>
          <a:xfrm>
            <a:off x="502920" y="4937759"/>
            <a:ext cx="3291840" cy="822960"/>
          </a:xfrm>
          <a:prstGeom prst="rect">
            <a:avLst/>
          </a:prstGeom>
          <a:noFill/>
        </p:spPr>
        <p:txBody>
          <a:bodyPr wrap="square">
            <a:spAutoFit/>
          </a:bodyPr>
          <a:lstStyle/>
          <a:p>
            <a:pPr algn="l"/>
            <a:r>
              <a:rPr sz="1000" b="0">
                <a:solidFill>
                  <a:srgbClr val="64748B"/>
                </a:solidFill>
              </a:rPr>
              <a:t>KPIs, queue health, alerts, bot instance status</a:t>
            </a:r>
          </a:p>
        </p:txBody>
      </p:sp>
      <p:sp>
        <p:nvSpPr>
          <p:cNvPr id="24" name="Rectangle 23"/>
          <p:cNvSpPr/>
          <p:nvPr/>
        </p:nvSpPr>
        <p:spPr>
          <a:xfrm>
            <a:off x="4297680" y="3840479"/>
            <a:ext cx="356616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840479"/>
            <a:ext cx="3566160" cy="73152"/>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34840" y="3977639"/>
            <a:ext cx="640080" cy="502920"/>
          </a:xfrm>
          <a:prstGeom prst="rect">
            <a:avLst/>
          </a:prstGeom>
          <a:noFill/>
        </p:spPr>
        <p:txBody>
          <a:bodyPr wrap="square">
            <a:spAutoFit/>
          </a:bodyPr>
          <a:lstStyle/>
          <a:p>
            <a:pPr algn="l"/>
            <a:r>
              <a:rPr sz="2800" b="1">
                <a:solidFill>
                  <a:srgbClr val="9333EA"/>
                </a:solidFill>
              </a:rPr>
              <a:t>05</a:t>
            </a:r>
          </a:p>
        </p:txBody>
      </p:sp>
      <p:sp>
        <p:nvSpPr>
          <p:cNvPr id="27" name="TextBox 26"/>
          <p:cNvSpPr txBox="1"/>
          <p:nvPr/>
        </p:nvSpPr>
        <p:spPr>
          <a:xfrm>
            <a:off x="4434840" y="4526279"/>
            <a:ext cx="3291840" cy="411480"/>
          </a:xfrm>
          <a:prstGeom prst="rect">
            <a:avLst/>
          </a:prstGeom>
          <a:noFill/>
        </p:spPr>
        <p:txBody>
          <a:bodyPr wrap="square">
            <a:spAutoFit/>
          </a:bodyPr>
          <a:lstStyle/>
          <a:p>
            <a:pPr algn="l"/>
            <a:r>
              <a:rPr sz="1400" b="1">
                <a:solidFill>
                  <a:srgbClr val="1A3A5C"/>
                </a:solidFill>
              </a:rPr>
              <a:t>AI-Assisted Development</a:t>
            </a:r>
          </a:p>
        </p:txBody>
      </p:sp>
      <p:sp>
        <p:nvSpPr>
          <p:cNvPr id="28" name="TextBox 27"/>
          <p:cNvSpPr txBox="1"/>
          <p:nvPr/>
        </p:nvSpPr>
        <p:spPr>
          <a:xfrm>
            <a:off x="4434840" y="4937759"/>
            <a:ext cx="3291840" cy="822960"/>
          </a:xfrm>
          <a:prstGeom prst="rect">
            <a:avLst/>
          </a:prstGeom>
          <a:noFill/>
        </p:spPr>
        <p:txBody>
          <a:bodyPr wrap="square">
            <a:spAutoFit/>
          </a:bodyPr>
          <a:lstStyle/>
          <a:p>
            <a:pPr algn="l"/>
            <a:r>
              <a:rPr sz="1000" b="0">
                <a:solidFill>
                  <a:srgbClr val="64748B"/>
                </a:solidFill>
              </a:rPr>
              <a:t>Vibe coding with Claude Code — how it was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Section 1 — RPA Error Log: 5 Exceptions</a:t>
            </a:r>
          </a:p>
        </p:txBody>
      </p:sp>
      <p:sp>
        <p:nvSpPr>
          <p:cNvPr id="4" name="Rectangle 3"/>
          <p:cNvSpPr/>
          <p:nvPr/>
        </p:nvSpPr>
        <p:spPr>
          <a:xfrm>
            <a:off x="228600" y="1097280"/>
            <a:ext cx="11750040" cy="384048"/>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115568"/>
            <a:ext cx="320040" cy="347472"/>
          </a:xfrm>
          <a:prstGeom prst="rect">
            <a:avLst/>
          </a:prstGeom>
          <a:noFill/>
        </p:spPr>
        <p:txBody>
          <a:bodyPr wrap="square">
            <a:spAutoFit/>
          </a:bodyPr>
          <a:lstStyle/>
          <a:p>
            <a:pPr algn="l"/>
            <a:r>
              <a:rPr sz="1000" b="1">
                <a:solidFill>
                  <a:srgbClr val="FFFFFF"/>
                </a:solidFill>
              </a:rPr>
              <a:t>#</a:t>
            </a:r>
          </a:p>
        </p:txBody>
      </p:sp>
      <p:sp>
        <p:nvSpPr>
          <p:cNvPr id="6" name="TextBox 5"/>
          <p:cNvSpPr txBox="1"/>
          <p:nvPr/>
        </p:nvSpPr>
        <p:spPr>
          <a:xfrm>
            <a:off x="685800" y="1115568"/>
            <a:ext cx="2651760" cy="347472"/>
          </a:xfrm>
          <a:prstGeom prst="rect">
            <a:avLst/>
          </a:prstGeom>
          <a:noFill/>
        </p:spPr>
        <p:txBody>
          <a:bodyPr wrap="square">
            <a:spAutoFit/>
          </a:bodyPr>
          <a:lstStyle/>
          <a:p>
            <a:pPr algn="l"/>
            <a:r>
              <a:rPr sz="1000" b="1">
                <a:solidFill>
                  <a:srgbClr val="FFFFFF"/>
                </a:solidFill>
              </a:rPr>
              <a:t>Error Name</a:t>
            </a:r>
          </a:p>
        </p:txBody>
      </p:sp>
      <p:sp>
        <p:nvSpPr>
          <p:cNvPr id="7" name="TextBox 6"/>
          <p:cNvSpPr txBox="1"/>
          <p:nvPr/>
        </p:nvSpPr>
        <p:spPr>
          <a:xfrm>
            <a:off x="3429000" y="1115568"/>
            <a:ext cx="914400" cy="347472"/>
          </a:xfrm>
          <a:prstGeom prst="rect">
            <a:avLst/>
          </a:prstGeom>
          <a:noFill/>
        </p:spPr>
        <p:txBody>
          <a:bodyPr wrap="square">
            <a:spAutoFit/>
          </a:bodyPr>
          <a:lstStyle/>
          <a:p>
            <a:pPr algn="l"/>
            <a:r>
              <a:rPr sz="1000" b="1">
                <a:solidFill>
                  <a:srgbClr val="FFFFFF"/>
                </a:solidFill>
              </a:rPr>
              <a:t>Type</a:t>
            </a:r>
          </a:p>
        </p:txBody>
      </p:sp>
      <p:sp>
        <p:nvSpPr>
          <p:cNvPr id="8" name="TextBox 7"/>
          <p:cNvSpPr txBox="1"/>
          <p:nvPr/>
        </p:nvSpPr>
        <p:spPr>
          <a:xfrm>
            <a:off x="4434840" y="1115568"/>
            <a:ext cx="1371600" cy="347472"/>
          </a:xfrm>
          <a:prstGeom prst="rect">
            <a:avLst/>
          </a:prstGeom>
          <a:noFill/>
        </p:spPr>
        <p:txBody>
          <a:bodyPr wrap="square">
            <a:spAutoFit/>
          </a:bodyPr>
          <a:lstStyle/>
          <a:p>
            <a:pPr algn="l"/>
            <a:r>
              <a:rPr sz="1000" b="1">
                <a:solidFill>
                  <a:srgbClr val="FFFFFF"/>
                </a:solidFill>
              </a:rPr>
              <a:t>Stage</a:t>
            </a:r>
          </a:p>
        </p:txBody>
      </p:sp>
      <p:sp>
        <p:nvSpPr>
          <p:cNvPr id="9" name="TextBox 8"/>
          <p:cNvSpPr txBox="1"/>
          <p:nvPr/>
        </p:nvSpPr>
        <p:spPr>
          <a:xfrm>
            <a:off x="5897880" y="1115568"/>
            <a:ext cx="822960" cy="347472"/>
          </a:xfrm>
          <a:prstGeom prst="rect">
            <a:avLst/>
          </a:prstGeom>
          <a:noFill/>
        </p:spPr>
        <p:txBody>
          <a:bodyPr wrap="square">
            <a:spAutoFit/>
          </a:bodyPr>
          <a:lstStyle/>
          <a:p>
            <a:pPr algn="l"/>
            <a:r>
              <a:rPr sz="1000" b="1">
                <a:solidFill>
                  <a:srgbClr val="FFFFFF"/>
                </a:solidFill>
              </a:rPr>
              <a:t>Severity</a:t>
            </a:r>
          </a:p>
        </p:txBody>
      </p:sp>
      <p:sp>
        <p:nvSpPr>
          <p:cNvPr id="10" name="TextBox 9"/>
          <p:cNvSpPr txBox="1"/>
          <p:nvPr/>
        </p:nvSpPr>
        <p:spPr>
          <a:xfrm>
            <a:off x="6812280" y="1115568"/>
            <a:ext cx="4846320" cy="347472"/>
          </a:xfrm>
          <a:prstGeom prst="rect">
            <a:avLst/>
          </a:prstGeom>
          <a:noFill/>
        </p:spPr>
        <p:txBody>
          <a:bodyPr wrap="square">
            <a:spAutoFit/>
          </a:bodyPr>
          <a:lstStyle/>
          <a:p>
            <a:pPr algn="l"/>
            <a:r>
              <a:rPr sz="1000" b="1">
                <a:solidFill>
                  <a:srgbClr val="FFFFFF"/>
                </a:solidFill>
              </a:rPr>
              <a:t>Root Cause</a:t>
            </a:r>
          </a:p>
        </p:txBody>
      </p:sp>
      <p:sp>
        <p:nvSpPr>
          <p:cNvPr id="11" name="Rectangle 10"/>
          <p:cNvSpPr/>
          <p:nvPr/>
        </p:nvSpPr>
        <p:spPr>
          <a:xfrm>
            <a:off x="228600" y="1508760"/>
            <a:ext cx="117500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1554480"/>
            <a:ext cx="320040" cy="731520"/>
          </a:xfrm>
          <a:prstGeom prst="rect">
            <a:avLst/>
          </a:prstGeom>
          <a:noFill/>
        </p:spPr>
        <p:txBody>
          <a:bodyPr wrap="square">
            <a:spAutoFit/>
          </a:bodyPr>
          <a:lstStyle/>
          <a:p>
            <a:pPr algn="l"/>
            <a:r>
              <a:rPr sz="1000" b="1">
                <a:solidFill>
                  <a:srgbClr val="1A3A5C"/>
                </a:solidFill>
              </a:rPr>
              <a:t>E-01</a:t>
            </a:r>
          </a:p>
        </p:txBody>
      </p:sp>
      <p:sp>
        <p:nvSpPr>
          <p:cNvPr id="13" name="TextBox 12"/>
          <p:cNvSpPr txBox="1"/>
          <p:nvPr/>
        </p:nvSpPr>
        <p:spPr>
          <a:xfrm>
            <a:off x="685800" y="1554480"/>
            <a:ext cx="2651760" cy="731520"/>
          </a:xfrm>
          <a:prstGeom prst="rect">
            <a:avLst/>
          </a:prstGeom>
          <a:noFill/>
        </p:spPr>
        <p:txBody>
          <a:bodyPr wrap="square">
            <a:spAutoFit/>
          </a:bodyPr>
          <a:lstStyle/>
          <a:p>
            <a:pPr algn="l"/>
            <a:r>
              <a:rPr sz="1000" b="1">
                <a:solidFill>
                  <a:srgbClr val="1A3A5C"/>
                </a:solidFill>
              </a:rPr>
              <a:t>SelectorNotFoundException</a:t>
            </a:r>
          </a:p>
        </p:txBody>
      </p:sp>
      <p:sp>
        <p:nvSpPr>
          <p:cNvPr id="14" name="TextBox 13"/>
          <p:cNvSpPr txBox="1"/>
          <p:nvPr/>
        </p:nvSpPr>
        <p:spPr>
          <a:xfrm>
            <a:off x="3429000" y="1554480"/>
            <a:ext cx="914400" cy="731520"/>
          </a:xfrm>
          <a:prstGeom prst="rect">
            <a:avLst/>
          </a:prstGeom>
          <a:noFill/>
        </p:spPr>
        <p:txBody>
          <a:bodyPr wrap="square">
            <a:spAutoFit/>
          </a:bodyPr>
          <a:lstStyle/>
          <a:p>
            <a:pPr algn="l"/>
            <a:r>
              <a:rPr sz="1000" b="0">
                <a:solidFill>
                  <a:srgbClr val="2563EB"/>
                </a:solidFill>
              </a:rPr>
              <a:t>System</a:t>
            </a:r>
          </a:p>
        </p:txBody>
      </p:sp>
      <p:sp>
        <p:nvSpPr>
          <p:cNvPr id="15" name="TextBox 14"/>
          <p:cNvSpPr txBox="1"/>
          <p:nvPr/>
        </p:nvSpPr>
        <p:spPr>
          <a:xfrm>
            <a:off x="4434840" y="1554480"/>
            <a:ext cx="1371600" cy="731520"/>
          </a:xfrm>
          <a:prstGeom prst="rect">
            <a:avLst/>
          </a:prstGeom>
          <a:noFill/>
        </p:spPr>
        <p:txBody>
          <a:bodyPr wrap="square">
            <a:spAutoFit/>
          </a:bodyPr>
          <a:lstStyle/>
          <a:p>
            <a:pPr algn="l"/>
            <a:r>
              <a:rPr sz="1000" b="0">
                <a:solidFill>
                  <a:srgbClr val="1A3A5C"/>
                </a:solidFill>
              </a:rPr>
              <a:t>Order Placement</a:t>
            </a:r>
          </a:p>
        </p:txBody>
      </p:sp>
      <p:sp>
        <p:nvSpPr>
          <p:cNvPr id="16" name="TextBox 15"/>
          <p:cNvSpPr txBox="1"/>
          <p:nvPr/>
        </p:nvSpPr>
        <p:spPr>
          <a:xfrm>
            <a:off x="5897880" y="1554480"/>
            <a:ext cx="822960" cy="731520"/>
          </a:xfrm>
          <a:prstGeom prst="rect">
            <a:avLst/>
          </a:prstGeom>
          <a:noFill/>
        </p:spPr>
        <p:txBody>
          <a:bodyPr wrap="square">
            <a:spAutoFit/>
          </a:bodyPr>
          <a:lstStyle/>
          <a:p>
            <a:pPr algn="l"/>
            <a:r>
              <a:rPr sz="1000" b="1">
                <a:solidFill>
                  <a:srgbClr val="EF4444"/>
                </a:solidFill>
              </a:rPr>
              <a:t>HIGH</a:t>
            </a:r>
          </a:p>
        </p:txBody>
      </p:sp>
      <p:sp>
        <p:nvSpPr>
          <p:cNvPr id="17" name="TextBox 16"/>
          <p:cNvSpPr txBox="1"/>
          <p:nvPr/>
        </p:nvSpPr>
        <p:spPr>
          <a:xfrm>
            <a:off x="6812280" y="1554480"/>
            <a:ext cx="4846320" cy="731520"/>
          </a:xfrm>
          <a:prstGeom prst="rect">
            <a:avLst/>
          </a:prstGeom>
          <a:noFill/>
        </p:spPr>
        <p:txBody>
          <a:bodyPr wrap="square">
            <a:spAutoFit/>
          </a:bodyPr>
          <a:lstStyle/>
          <a:p>
            <a:pPr algn="l"/>
            <a:r>
              <a:rPr sz="900" b="0">
                <a:solidFill>
                  <a:srgbClr val="1A3A5C"/>
                </a:solidFill>
              </a:rPr>
              <a:t>Stale CSS selector after frontend deploy</a:t>
            </a:r>
          </a:p>
        </p:txBody>
      </p:sp>
      <p:sp>
        <p:nvSpPr>
          <p:cNvPr id="18" name="Rectangle 17"/>
          <p:cNvSpPr/>
          <p:nvPr/>
        </p:nvSpPr>
        <p:spPr>
          <a:xfrm>
            <a:off x="228600" y="2377439"/>
            <a:ext cx="11750040" cy="822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2423159"/>
            <a:ext cx="320040" cy="731520"/>
          </a:xfrm>
          <a:prstGeom prst="rect">
            <a:avLst/>
          </a:prstGeom>
          <a:noFill/>
        </p:spPr>
        <p:txBody>
          <a:bodyPr wrap="square">
            <a:spAutoFit/>
          </a:bodyPr>
          <a:lstStyle/>
          <a:p>
            <a:pPr algn="l"/>
            <a:r>
              <a:rPr sz="1000" b="1">
                <a:solidFill>
                  <a:srgbClr val="1A3A5C"/>
                </a:solidFill>
              </a:rPr>
              <a:t>E-02</a:t>
            </a:r>
          </a:p>
        </p:txBody>
      </p:sp>
      <p:sp>
        <p:nvSpPr>
          <p:cNvPr id="20" name="TextBox 19"/>
          <p:cNvSpPr txBox="1"/>
          <p:nvPr/>
        </p:nvSpPr>
        <p:spPr>
          <a:xfrm>
            <a:off x="685800" y="2423159"/>
            <a:ext cx="2651760" cy="731520"/>
          </a:xfrm>
          <a:prstGeom prst="rect">
            <a:avLst/>
          </a:prstGeom>
          <a:noFill/>
        </p:spPr>
        <p:txBody>
          <a:bodyPr wrap="square">
            <a:spAutoFit/>
          </a:bodyPr>
          <a:lstStyle/>
          <a:p>
            <a:pPr algn="l"/>
            <a:r>
              <a:rPr sz="1000" b="1">
                <a:solidFill>
                  <a:srgbClr val="1A3A5C"/>
                </a:solidFill>
              </a:rPr>
              <a:t>InvalidOrderDataException</a:t>
            </a:r>
          </a:p>
        </p:txBody>
      </p:sp>
      <p:sp>
        <p:nvSpPr>
          <p:cNvPr id="21" name="TextBox 20"/>
          <p:cNvSpPr txBox="1"/>
          <p:nvPr/>
        </p:nvSpPr>
        <p:spPr>
          <a:xfrm>
            <a:off x="3429000" y="2423159"/>
            <a:ext cx="914400" cy="731520"/>
          </a:xfrm>
          <a:prstGeom prst="rect">
            <a:avLst/>
          </a:prstGeom>
          <a:noFill/>
        </p:spPr>
        <p:txBody>
          <a:bodyPr wrap="square">
            <a:spAutoFit/>
          </a:bodyPr>
          <a:lstStyle/>
          <a:p>
            <a:pPr algn="l"/>
            <a:r>
              <a:rPr sz="1000" b="0">
                <a:solidFill>
                  <a:srgbClr val="F59E0B"/>
                </a:solidFill>
              </a:rPr>
              <a:t>Business</a:t>
            </a:r>
          </a:p>
        </p:txBody>
      </p:sp>
      <p:sp>
        <p:nvSpPr>
          <p:cNvPr id="22" name="TextBox 21"/>
          <p:cNvSpPr txBox="1"/>
          <p:nvPr/>
        </p:nvSpPr>
        <p:spPr>
          <a:xfrm>
            <a:off x="4434840" y="2423159"/>
            <a:ext cx="1371600" cy="731520"/>
          </a:xfrm>
          <a:prstGeom prst="rect">
            <a:avLst/>
          </a:prstGeom>
          <a:noFill/>
        </p:spPr>
        <p:txBody>
          <a:bodyPr wrap="square">
            <a:spAutoFit/>
          </a:bodyPr>
          <a:lstStyle/>
          <a:p>
            <a:pPr algn="l"/>
            <a:r>
              <a:rPr sz="1000" b="0">
                <a:solidFill>
                  <a:srgbClr val="1A3A5C"/>
                </a:solidFill>
              </a:rPr>
              <a:t>Data Extraction</a:t>
            </a:r>
          </a:p>
        </p:txBody>
      </p:sp>
      <p:sp>
        <p:nvSpPr>
          <p:cNvPr id="23" name="TextBox 22"/>
          <p:cNvSpPr txBox="1"/>
          <p:nvPr/>
        </p:nvSpPr>
        <p:spPr>
          <a:xfrm>
            <a:off x="5897880" y="2423159"/>
            <a:ext cx="822960" cy="731520"/>
          </a:xfrm>
          <a:prstGeom prst="rect">
            <a:avLst/>
          </a:prstGeom>
          <a:noFill/>
        </p:spPr>
        <p:txBody>
          <a:bodyPr wrap="square">
            <a:spAutoFit/>
          </a:bodyPr>
          <a:lstStyle/>
          <a:p>
            <a:pPr algn="l"/>
            <a:r>
              <a:rPr sz="1000" b="1">
                <a:solidFill>
                  <a:srgbClr val="EF4444"/>
                </a:solidFill>
              </a:rPr>
              <a:t>HIGH</a:t>
            </a:r>
          </a:p>
        </p:txBody>
      </p:sp>
      <p:sp>
        <p:nvSpPr>
          <p:cNvPr id="24" name="TextBox 23"/>
          <p:cNvSpPr txBox="1"/>
          <p:nvPr/>
        </p:nvSpPr>
        <p:spPr>
          <a:xfrm>
            <a:off x="6812280" y="2423159"/>
            <a:ext cx="4846320" cy="731520"/>
          </a:xfrm>
          <a:prstGeom prst="rect">
            <a:avLst/>
          </a:prstGeom>
          <a:noFill/>
        </p:spPr>
        <p:txBody>
          <a:bodyPr wrap="square">
            <a:spAutoFit/>
          </a:bodyPr>
          <a:lstStyle/>
          <a:p>
            <a:pPr algn="l"/>
            <a:r>
              <a:rPr sz="900" b="0">
                <a:solidFill>
                  <a:srgbClr val="1A3A5C"/>
                </a:solidFill>
              </a:rPr>
              <a:t>Missing ZIP code in ERP international feed</a:t>
            </a:r>
          </a:p>
        </p:txBody>
      </p:sp>
      <p:sp>
        <p:nvSpPr>
          <p:cNvPr id="25" name="Rectangle 24"/>
          <p:cNvSpPr/>
          <p:nvPr/>
        </p:nvSpPr>
        <p:spPr>
          <a:xfrm>
            <a:off x="228600" y="3246120"/>
            <a:ext cx="117500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3291839"/>
            <a:ext cx="320040" cy="731520"/>
          </a:xfrm>
          <a:prstGeom prst="rect">
            <a:avLst/>
          </a:prstGeom>
          <a:noFill/>
        </p:spPr>
        <p:txBody>
          <a:bodyPr wrap="square">
            <a:spAutoFit/>
          </a:bodyPr>
          <a:lstStyle/>
          <a:p>
            <a:pPr algn="l"/>
            <a:r>
              <a:rPr sz="1000" b="1">
                <a:solidFill>
                  <a:srgbClr val="1A3A5C"/>
                </a:solidFill>
              </a:rPr>
              <a:t>E-03</a:t>
            </a:r>
          </a:p>
        </p:txBody>
      </p:sp>
      <p:sp>
        <p:nvSpPr>
          <p:cNvPr id="27" name="TextBox 26"/>
          <p:cNvSpPr txBox="1"/>
          <p:nvPr/>
        </p:nvSpPr>
        <p:spPr>
          <a:xfrm>
            <a:off x="685800" y="3291839"/>
            <a:ext cx="2651760" cy="731520"/>
          </a:xfrm>
          <a:prstGeom prst="rect">
            <a:avLst/>
          </a:prstGeom>
          <a:noFill/>
        </p:spPr>
        <p:txBody>
          <a:bodyPr wrap="square">
            <a:spAutoFit/>
          </a:bodyPr>
          <a:lstStyle/>
          <a:p>
            <a:pPr algn="l"/>
            <a:r>
              <a:rPr sz="1000" b="1">
                <a:solidFill>
                  <a:srgbClr val="1A3A5C"/>
                </a:solidFill>
              </a:rPr>
              <a:t>OracleDBTimeoutException</a:t>
            </a:r>
          </a:p>
        </p:txBody>
      </p:sp>
      <p:sp>
        <p:nvSpPr>
          <p:cNvPr id="28" name="TextBox 27"/>
          <p:cNvSpPr txBox="1"/>
          <p:nvPr/>
        </p:nvSpPr>
        <p:spPr>
          <a:xfrm>
            <a:off x="3429000" y="3291839"/>
            <a:ext cx="914400" cy="731520"/>
          </a:xfrm>
          <a:prstGeom prst="rect">
            <a:avLst/>
          </a:prstGeom>
          <a:noFill/>
        </p:spPr>
        <p:txBody>
          <a:bodyPr wrap="square">
            <a:spAutoFit/>
          </a:bodyPr>
          <a:lstStyle/>
          <a:p>
            <a:pPr algn="l"/>
            <a:r>
              <a:rPr sz="1000" b="0">
                <a:solidFill>
                  <a:srgbClr val="2563EB"/>
                </a:solidFill>
              </a:rPr>
              <a:t>System</a:t>
            </a:r>
          </a:p>
        </p:txBody>
      </p:sp>
      <p:sp>
        <p:nvSpPr>
          <p:cNvPr id="29" name="TextBox 28"/>
          <p:cNvSpPr txBox="1"/>
          <p:nvPr/>
        </p:nvSpPr>
        <p:spPr>
          <a:xfrm>
            <a:off x="4434840" y="3291839"/>
            <a:ext cx="1371600" cy="731520"/>
          </a:xfrm>
          <a:prstGeom prst="rect">
            <a:avLst/>
          </a:prstGeom>
          <a:noFill/>
        </p:spPr>
        <p:txBody>
          <a:bodyPr wrap="square">
            <a:spAutoFit/>
          </a:bodyPr>
          <a:lstStyle/>
          <a:p>
            <a:pPr algn="l"/>
            <a:r>
              <a:rPr sz="1000" b="0">
                <a:solidFill>
                  <a:srgbClr val="1A3A5C"/>
                </a:solidFill>
              </a:rPr>
              <a:t>Inventory Check</a:t>
            </a:r>
          </a:p>
        </p:txBody>
      </p:sp>
      <p:sp>
        <p:nvSpPr>
          <p:cNvPr id="30" name="TextBox 29"/>
          <p:cNvSpPr txBox="1"/>
          <p:nvPr/>
        </p:nvSpPr>
        <p:spPr>
          <a:xfrm>
            <a:off x="5897880" y="3291839"/>
            <a:ext cx="822960" cy="731520"/>
          </a:xfrm>
          <a:prstGeom prst="rect">
            <a:avLst/>
          </a:prstGeom>
          <a:noFill/>
        </p:spPr>
        <p:txBody>
          <a:bodyPr wrap="square">
            <a:spAutoFit/>
          </a:bodyPr>
          <a:lstStyle/>
          <a:p>
            <a:pPr algn="l"/>
            <a:r>
              <a:rPr sz="1000" b="1">
                <a:solidFill>
                  <a:srgbClr val="EF4444"/>
                </a:solidFill>
              </a:rPr>
              <a:t>HIGH</a:t>
            </a:r>
          </a:p>
        </p:txBody>
      </p:sp>
      <p:sp>
        <p:nvSpPr>
          <p:cNvPr id="31" name="TextBox 30"/>
          <p:cNvSpPr txBox="1"/>
          <p:nvPr/>
        </p:nvSpPr>
        <p:spPr>
          <a:xfrm>
            <a:off x="6812280" y="3291839"/>
            <a:ext cx="4846320" cy="731520"/>
          </a:xfrm>
          <a:prstGeom prst="rect">
            <a:avLst/>
          </a:prstGeom>
          <a:noFill/>
        </p:spPr>
        <p:txBody>
          <a:bodyPr wrap="square">
            <a:spAutoFit/>
          </a:bodyPr>
          <a:lstStyle/>
          <a:p>
            <a:pPr algn="l"/>
            <a:r>
              <a:rPr sz="900" b="0">
                <a:solidFill>
                  <a:srgbClr val="1A3A5C"/>
                </a:solidFill>
              </a:rPr>
              <a:t>Missing DB index causing full table scans</a:t>
            </a:r>
          </a:p>
        </p:txBody>
      </p:sp>
      <p:sp>
        <p:nvSpPr>
          <p:cNvPr id="32" name="Rectangle 31"/>
          <p:cNvSpPr/>
          <p:nvPr/>
        </p:nvSpPr>
        <p:spPr>
          <a:xfrm>
            <a:off x="228600" y="4114800"/>
            <a:ext cx="11750040" cy="822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160520"/>
            <a:ext cx="320040" cy="731520"/>
          </a:xfrm>
          <a:prstGeom prst="rect">
            <a:avLst/>
          </a:prstGeom>
          <a:noFill/>
        </p:spPr>
        <p:txBody>
          <a:bodyPr wrap="square">
            <a:spAutoFit/>
          </a:bodyPr>
          <a:lstStyle/>
          <a:p>
            <a:pPr algn="l"/>
            <a:r>
              <a:rPr sz="1000" b="1">
                <a:solidFill>
                  <a:srgbClr val="1A3A5C"/>
                </a:solidFill>
              </a:rPr>
              <a:t>E-04</a:t>
            </a:r>
          </a:p>
        </p:txBody>
      </p:sp>
      <p:sp>
        <p:nvSpPr>
          <p:cNvPr id="34" name="TextBox 33"/>
          <p:cNvSpPr txBox="1"/>
          <p:nvPr/>
        </p:nvSpPr>
        <p:spPr>
          <a:xfrm>
            <a:off x="685800" y="4160520"/>
            <a:ext cx="2651760" cy="731520"/>
          </a:xfrm>
          <a:prstGeom prst="rect">
            <a:avLst/>
          </a:prstGeom>
          <a:noFill/>
        </p:spPr>
        <p:txBody>
          <a:bodyPr wrap="square">
            <a:spAutoFit/>
          </a:bodyPr>
          <a:lstStyle/>
          <a:p>
            <a:pPr algn="l"/>
            <a:r>
              <a:rPr sz="1000" b="1">
                <a:solidFill>
                  <a:srgbClr val="1A3A5C"/>
                </a:solidFill>
              </a:rPr>
              <a:t>DuplicateOrderException</a:t>
            </a:r>
          </a:p>
        </p:txBody>
      </p:sp>
      <p:sp>
        <p:nvSpPr>
          <p:cNvPr id="35" name="TextBox 34"/>
          <p:cNvSpPr txBox="1"/>
          <p:nvPr/>
        </p:nvSpPr>
        <p:spPr>
          <a:xfrm>
            <a:off x="3429000" y="4160520"/>
            <a:ext cx="914400" cy="731520"/>
          </a:xfrm>
          <a:prstGeom prst="rect">
            <a:avLst/>
          </a:prstGeom>
          <a:noFill/>
        </p:spPr>
        <p:txBody>
          <a:bodyPr wrap="square">
            <a:spAutoFit/>
          </a:bodyPr>
          <a:lstStyle/>
          <a:p>
            <a:pPr algn="l"/>
            <a:r>
              <a:rPr sz="1000" b="0">
                <a:solidFill>
                  <a:srgbClr val="F59E0B"/>
                </a:solidFill>
              </a:rPr>
              <a:t>Business</a:t>
            </a:r>
          </a:p>
        </p:txBody>
      </p:sp>
      <p:sp>
        <p:nvSpPr>
          <p:cNvPr id="36" name="TextBox 35"/>
          <p:cNvSpPr txBox="1"/>
          <p:nvPr/>
        </p:nvSpPr>
        <p:spPr>
          <a:xfrm>
            <a:off x="4434840" y="4160520"/>
            <a:ext cx="1371600" cy="731520"/>
          </a:xfrm>
          <a:prstGeom prst="rect">
            <a:avLst/>
          </a:prstGeom>
          <a:noFill/>
        </p:spPr>
        <p:txBody>
          <a:bodyPr wrap="square">
            <a:spAutoFit/>
          </a:bodyPr>
          <a:lstStyle/>
          <a:p>
            <a:pPr algn="l"/>
            <a:r>
              <a:rPr sz="1000" b="0">
                <a:solidFill>
                  <a:srgbClr val="1A3A5C"/>
                </a:solidFill>
              </a:rPr>
              <a:t>Order Submission</a:t>
            </a:r>
          </a:p>
        </p:txBody>
      </p:sp>
      <p:sp>
        <p:nvSpPr>
          <p:cNvPr id="37" name="TextBox 36"/>
          <p:cNvSpPr txBox="1"/>
          <p:nvPr/>
        </p:nvSpPr>
        <p:spPr>
          <a:xfrm>
            <a:off x="5897880" y="4160520"/>
            <a:ext cx="822960" cy="731520"/>
          </a:xfrm>
          <a:prstGeom prst="rect">
            <a:avLst/>
          </a:prstGeom>
          <a:noFill/>
        </p:spPr>
        <p:txBody>
          <a:bodyPr wrap="square">
            <a:spAutoFit/>
          </a:bodyPr>
          <a:lstStyle/>
          <a:p>
            <a:pPr algn="l"/>
            <a:r>
              <a:rPr sz="1000" b="1">
                <a:solidFill>
                  <a:srgbClr val="F59E0B"/>
                </a:solidFill>
              </a:rPr>
              <a:t>MEDIUM</a:t>
            </a:r>
          </a:p>
        </p:txBody>
      </p:sp>
      <p:sp>
        <p:nvSpPr>
          <p:cNvPr id="38" name="TextBox 37"/>
          <p:cNvSpPr txBox="1"/>
          <p:nvPr/>
        </p:nvSpPr>
        <p:spPr>
          <a:xfrm>
            <a:off x="6812280" y="4160520"/>
            <a:ext cx="4846320" cy="731520"/>
          </a:xfrm>
          <a:prstGeom prst="rect">
            <a:avLst/>
          </a:prstGeom>
          <a:noFill/>
        </p:spPr>
        <p:txBody>
          <a:bodyPr wrap="square">
            <a:spAutoFit/>
          </a:bodyPr>
          <a:lstStyle/>
          <a:p>
            <a:pPr algn="l"/>
            <a:r>
              <a:rPr sz="900" b="0">
                <a:solidFill>
                  <a:srgbClr val="1A3A5C"/>
                </a:solidFill>
              </a:rPr>
              <a:t>No idempotency key on retry logic</a:t>
            </a:r>
          </a:p>
        </p:txBody>
      </p:sp>
      <p:sp>
        <p:nvSpPr>
          <p:cNvPr id="39" name="Rectangle 38"/>
          <p:cNvSpPr/>
          <p:nvPr/>
        </p:nvSpPr>
        <p:spPr>
          <a:xfrm>
            <a:off x="228600" y="4983479"/>
            <a:ext cx="117500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4320" y="5029199"/>
            <a:ext cx="320040" cy="731520"/>
          </a:xfrm>
          <a:prstGeom prst="rect">
            <a:avLst/>
          </a:prstGeom>
          <a:noFill/>
        </p:spPr>
        <p:txBody>
          <a:bodyPr wrap="square">
            <a:spAutoFit/>
          </a:bodyPr>
          <a:lstStyle/>
          <a:p>
            <a:pPr algn="l"/>
            <a:r>
              <a:rPr sz="1000" b="1">
                <a:solidFill>
                  <a:srgbClr val="1A3A5C"/>
                </a:solidFill>
              </a:rPr>
              <a:t>E-05</a:t>
            </a:r>
          </a:p>
        </p:txBody>
      </p:sp>
      <p:sp>
        <p:nvSpPr>
          <p:cNvPr id="41" name="TextBox 40"/>
          <p:cNvSpPr txBox="1"/>
          <p:nvPr/>
        </p:nvSpPr>
        <p:spPr>
          <a:xfrm>
            <a:off x="685800" y="5029199"/>
            <a:ext cx="2651760" cy="731520"/>
          </a:xfrm>
          <a:prstGeom prst="rect">
            <a:avLst/>
          </a:prstGeom>
          <a:noFill/>
        </p:spPr>
        <p:txBody>
          <a:bodyPr wrap="square">
            <a:spAutoFit/>
          </a:bodyPr>
          <a:lstStyle/>
          <a:p>
            <a:pPr algn="l"/>
            <a:r>
              <a:rPr sz="1000" b="1">
                <a:solidFill>
                  <a:srgbClr val="1A3A5C"/>
                </a:solidFill>
              </a:rPr>
              <a:t>PDFParsingFailureException</a:t>
            </a:r>
          </a:p>
        </p:txBody>
      </p:sp>
      <p:sp>
        <p:nvSpPr>
          <p:cNvPr id="42" name="TextBox 41"/>
          <p:cNvSpPr txBox="1"/>
          <p:nvPr/>
        </p:nvSpPr>
        <p:spPr>
          <a:xfrm>
            <a:off x="3429000" y="5029199"/>
            <a:ext cx="914400" cy="731520"/>
          </a:xfrm>
          <a:prstGeom prst="rect">
            <a:avLst/>
          </a:prstGeom>
          <a:noFill/>
        </p:spPr>
        <p:txBody>
          <a:bodyPr wrap="square">
            <a:spAutoFit/>
          </a:bodyPr>
          <a:lstStyle/>
          <a:p>
            <a:pPr algn="l"/>
            <a:r>
              <a:rPr sz="1000" b="0">
                <a:solidFill>
                  <a:srgbClr val="9333EA"/>
                </a:solidFill>
              </a:rPr>
              <a:t>App</a:t>
            </a:r>
          </a:p>
        </p:txBody>
      </p:sp>
      <p:sp>
        <p:nvSpPr>
          <p:cNvPr id="43" name="TextBox 42"/>
          <p:cNvSpPr txBox="1"/>
          <p:nvPr/>
        </p:nvSpPr>
        <p:spPr>
          <a:xfrm>
            <a:off x="4434840" y="5029199"/>
            <a:ext cx="1371600" cy="731520"/>
          </a:xfrm>
          <a:prstGeom prst="rect">
            <a:avLst/>
          </a:prstGeom>
          <a:noFill/>
        </p:spPr>
        <p:txBody>
          <a:bodyPr wrap="square">
            <a:spAutoFit/>
          </a:bodyPr>
          <a:lstStyle/>
          <a:p>
            <a:pPr algn="l"/>
            <a:r>
              <a:rPr sz="1000" b="0">
                <a:solidFill>
                  <a:srgbClr val="1A3A5C"/>
                </a:solidFill>
              </a:rPr>
              <a:t>Invoice Generation</a:t>
            </a:r>
          </a:p>
        </p:txBody>
      </p:sp>
      <p:sp>
        <p:nvSpPr>
          <p:cNvPr id="44" name="TextBox 43"/>
          <p:cNvSpPr txBox="1"/>
          <p:nvPr/>
        </p:nvSpPr>
        <p:spPr>
          <a:xfrm>
            <a:off x="5897880" y="5029199"/>
            <a:ext cx="822960" cy="731520"/>
          </a:xfrm>
          <a:prstGeom prst="rect">
            <a:avLst/>
          </a:prstGeom>
          <a:noFill/>
        </p:spPr>
        <p:txBody>
          <a:bodyPr wrap="square">
            <a:spAutoFit/>
          </a:bodyPr>
          <a:lstStyle/>
          <a:p>
            <a:pPr algn="l"/>
            <a:r>
              <a:rPr sz="1000" b="1">
                <a:solidFill>
                  <a:srgbClr val="10B981"/>
                </a:solidFill>
              </a:rPr>
              <a:t>LOW</a:t>
            </a:r>
          </a:p>
        </p:txBody>
      </p:sp>
      <p:sp>
        <p:nvSpPr>
          <p:cNvPr id="45" name="TextBox 44"/>
          <p:cNvSpPr txBox="1"/>
          <p:nvPr/>
        </p:nvSpPr>
        <p:spPr>
          <a:xfrm>
            <a:off x="6812280" y="5029199"/>
            <a:ext cx="4846320" cy="731520"/>
          </a:xfrm>
          <a:prstGeom prst="rect">
            <a:avLst/>
          </a:prstGeom>
          <a:noFill/>
        </p:spPr>
        <p:txBody>
          <a:bodyPr wrap="square">
            <a:spAutoFit/>
          </a:bodyPr>
          <a:lstStyle/>
          <a:p>
            <a:pPr algn="l"/>
            <a:r>
              <a:rPr sz="900" b="0">
                <a:solidFill>
                  <a:srgbClr val="1A3A5C"/>
                </a:solidFill>
              </a:rPr>
              <a:t>Scanned PDF — OCR not enabled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Section 2 — Debugging Strategy &amp; Framework</a:t>
            </a:r>
          </a:p>
        </p:txBody>
      </p:sp>
      <p:sp>
        <p:nvSpPr>
          <p:cNvPr id="4" name="Rectangle 3"/>
          <p:cNvSpPr/>
          <p:nvPr/>
        </p:nvSpPr>
        <p:spPr>
          <a:xfrm>
            <a:off x="274320" y="114300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143000"/>
            <a:ext cx="557784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280160"/>
            <a:ext cx="5303520" cy="411480"/>
          </a:xfrm>
          <a:prstGeom prst="rect">
            <a:avLst/>
          </a:prstGeom>
          <a:noFill/>
        </p:spPr>
        <p:txBody>
          <a:bodyPr wrap="square">
            <a:spAutoFit/>
          </a:bodyPr>
          <a:lstStyle/>
          <a:p>
            <a:pPr algn="l"/>
            <a:r>
              <a:rPr sz="1300" b="1">
                <a:solidFill>
                  <a:srgbClr val="1A3A5C"/>
                </a:solidFill>
              </a:rPr>
              <a:t>📋 Logging</a:t>
            </a:r>
          </a:p>
        </p:txBody>
      </p:sp>
      <p:sp>
        <p:nvSpPr>
          <p:cNvPr id="7" name="TextBox 6"/>
          <p:cNvSpPr txBox="1"/>
          <p:nvPr/>
        </p:nvSpPr>
        <p:spPr>
          <a:xfrm>
            <a:off x="411479" y="1737360"/>
            <a:ext cx="5303520" cy="1645920"/>
          </a:xfrm>
          <a:prstGeom prst="rect">
            <a:avLst/>
          </a:prstGeom>
          <a:noFill/>
        </p:spPr>
        <p:txBody>
          <a:bodyPr wrap="square">
            <a:spAutoFit/>
          </a:bodyPr>
          <a:lstStyle/>
          <a:p>
            <a:pPr algn="l"/>
            <a:r>
              <a:rPr sz="1000" b="0">
                <a:solidFill>
                  <a:srgbClr val="1E293B"/>
                </a:solidFill>
              </a:rPr>
              <a:t>• Structured levels: INFO, WARN, ERROR, FATAL
• Include: OrderID, BotInstanceID, UTC timestamp
• Screenshot on every exception
• Ship to Orchestrator → Elasticsearch → Kibana</a:t>
            </a:r>
          </a:p>
        </p:txBody>
      </p:sp>
      <p:sp>
        <p:nvSpPr>
          <p:cNvPr id="8" name="Rectangle 7"/>
          <p:cNvSpPr/>
          <p:nvPr/>
        </p:nvSpPr>
        <p:spPr>
          <a:xfrm>
            <a:off x="6126480" y="114300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143000"/>
            <a:ext cx="557784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280160"/>
            <a:ext cx="5303520" cy="411480"/>
          </a:xfrm>
          <a:prstGeom prst="rect">
            <a:avLst/>
          </a:prstGeom>
          <a:noFill/>
        </p:spPr>
        <p:txBody>
          <a:bodyPr wrap="square">
            <a:spAutoFit/>
          </a:bodyPr>
          <a:lstStyle/>
          <a:p>
            <a:pPr algn="l"/>
            <a:r>
              <a:rPr sz="1300" b="1">
                <a:solidFill>
                  <a:srgbClr val="1A3A5C"/>
                </a:solidFill>
              </a:rPr>
              <a:t>📊 Monitoring</a:t>
            </a:r>
          </a:p>
        </p:txBody>
      </p:sp>
      <p:sp>
        <p:nvSpPr>
          <p:cNvPr id="11" name="TextBox 10"/>
          <p:cNvSpPr txBox="1"/>
          <p:nvPr/>
        </p:nvSpPr>
        <p:spPr>
          <a:xfrm>
            <a:off x="6263640" y="1737360"/>
            <a:ext cx="5303520" cy="1645920"/>
          </a:xfrm>
          <a:prstGeom prst="rect">
            <a:avLst/>
          </a:prstGeom>
          <a:noFill/>
        </p:spPr>
        <p:txBody>
          <a:bodyPr wrap="square">
            <a:spAutoFit/>
          </a:bodyPr>
          <a:lstStyle/>
          <a:p>
            <a:pPr algn="l"/>
            <a:r>
              <a:rPr sz="1000" b="0">
                <a:solidFill>
                  <a:srgbClr val="1E293B"/>
                </a:solidFill>
              </a:rPr>
              <a:t>• Real-time KPI tracking (60s refresh)
• PagerDuty: alert if success rate &lt;90%
• SLA violation detection (4-hour threshold)
• Anomaly detection → auto Jira tickets</a:t>
            </a:r>
          </a:p>
        </p:txBody>
      </p:sp>
      <p:sp>
        <p:nvSpPr>
          <p:cNvPr id="12" name="Rectangle 11"/>
          <p:cNvSpPr/>
          <p:nvPr/>
        </p:nvSpPr>
        <p:spPr>
          <a:xfrm>
            <a:off x="274320" y="370332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703320"/>
            <a:ext cx="557784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3840480"/>
            <a:ext cx="5303520" cy="411480"/>
          </a:xfrm>
          <a:prstGeom prst="rect">
            <a:avLst/>
          </a:prstGeom>
          <a:noFill/>
        </p:spPr>
        <p:txBody>
          <a:bodyPr wrap="square">
            <a:spAutoFit/>
          </a:bodyPr>
          <a:lstStyle/>
          <a:p>
            <a:pPr algn="l"/>
            <a:r>
              <a:rPr sz="1300" b="1">
                <a:solidFill>
                  <a:srgbClr val="1A3A5C"/>
                </a:solidFill>
              </a:rPr>
              <a:t>🔁 Reproduction</a:t>
            </a:r>
          </a:p>
        </p:txBody>
      </p:sp>
      <p:sp>
        <p:nvSpPr>
          <p:cNvPr id="15" name="TextBox 14"/>
          <p:cNvSpPr txBox="1"/>
          <p:nvPr/>
        </p:nvSpPr>
        <p:spPr>
          <a:xfrm>
            <a:off x="411479" y="4297680"/>
            <a:ext cx="5303520" cy="1645920"/>
          </a:xfrm>
          <a:prstGeom prst="rect">
            <a:avLst/>
          </a:prstGeom>
          <a:noFill/>
        </p:spPr>
        <p:txBody>
          <a:bodyPr wrap="square">
            <a:spAutoFit/>
          </a:bodyPr>
          <a:lstStyle/>
          <a:p>
            <a:pPr algn="l"/>
            <a:r>
              <a:rPr sz="1000" b="0">
                <a:solidFill>
                  <a:srgbClr val="1E293B"/>
                </a:solidFill>
              </a:rPr>
              <a:t>• Isolate failing transaction from queue
• Snapshot environment state
• Replay in UiPath Debug mode
• Reproduce 3× before applying any fix</a:t>
            </a:r>
          </a:p>
        </p:txBody>
      </p:sp>
      <p:sp>
        <p:nvSpPr>
          <p:cNvPr id="16" name="Rectangle 15"/>
          <p:cNvSpPr/>
          <p:nvPr/>
        </p:nvSpPr>
        <p:spPr>
          <a:xfrm>
            <a:off x="6126480" y="370332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703320"/>
            <a:ext cx="5577840"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3840480"/>
            <a:ext cx="5303520" cy="411480"/>
          </a:xfrm>
          <a:prstGeom prst="rect">
            <a:avLst/>
          </a:prstGeom>
          <a:noFill/>
        </p:spPr>
        <p:txBody>
          <a:bodyPr wrap="square">
            <a:spAutoFit/>
          </a:bodyPr>
          <a:lstStyle/>
          <a:p>
            <a:pPr algn="l"/>
            <a:r>
              <a:rPr sz="1300" b="1">
                <a:solidFill>
                  <a:srgbClr val="1A3A5C"/>
                </a:solidFill>
              </a:rPr>
              <a:t>🔄 Retry Logic</a:t>
            </a:r>
          </a:p>
        </p:txBody>
      </p:sp>
      <p:sp>
        <p:nvSpPr>
          <p:cNvPr id="19" name="TextBox 18"/>
          <p:cNvSpPr txBox="1"/>
          <p:nvPr/>
        </p:nvSpPr>
        <p:spPr>
          <a:xfrm>
            <a:off x="6263640" y="4297680"/>
            <a:ext cx="5303520" cy="1645920"/>
          </a:xfrm>
          <a:prstGeom prst="rect">
            <a:avLst/>
          </a:prstGeom>
          <a:noFill/>
        </p:spPr>
        <p:txBody>
          <a:bodyPr wrap="square">
            <a:spAutoFit/>
          </a:bodyPr>
          <a:lstStyle/>
          <a:p>
            <a:pPr algn="l"/>
            <a:r>
              <a:rPr sz="1000" b="0">
                <a:solidFill>
                  <a:srgbClr val="1E293B"/>
                </a:solidFill>
              </a:rPr>
              <a:t>• RetryScope: 3 retries, 5s backoff
• Idempotency key check before each order POST
• System exceptions → retry then escalate
• Business exceptions → exception queue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Debugging Decision Flow — 10-Step Process</a:t>
            </a:r>
          </a:p>
        </p:txBody>
      </p:sp>
      <p:sp>
        <p:nvSpPr>
          <p:cNvPr id="4" name="Rectangle 3"/>
          <p:cNvSpPr/>
          <p:nvPr/>
        </p:nvSpPr>
        <p:spPr>
          <a:xfrm>
            <a:off x="274320" y="1280160"/>
            <a:ext cx="1005840" cy="82296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298448"/>
            <a:ext cx="914400" cy="786384"/>
          </a:xfrm>
          <a:prstGeom prst="rect">
            <a:avLst/>
          </a:prstGeom>
          <a:noFill/>
        </p:spPr>
        <p:txBody>
          <a:bodyPr wrap="square">
            <a:spAutoFit/>
          </a:bodyPr>
          <a:lstStyle/>
          <a:p>
            <a:pPr algn="ctr"/>
            <a:r>
              <a:rPr sz="800" b="1">
                <a:solidFill>
                  <a:srgbClr val="FFFFFF"/>
                </a:solidFill>
              </a:rPr>
              <a:t>Error
Detected</a:t>
            </a:r>
          </a:p>
        </p:txBody>
      </p:sp>
      <p:sp>
        <p:nvSpPr>
          <p:cNvPr id="6" name="TextBox 5"/>
          <p:cNvSpPr txBox="1"/>
          <p:nvPr/>
        </p:nvSpPr>
        <p:spPr>
          <a:xfrm>
            <a:off x="1280160" y="1463040"/>
            <a:ext cx="164592" cy="457200"/>
          </a:xfrm>
          <a:prstGeom prst="rect">
            <a:avLst/>
          </a:prstGeom>
          <a:noFill/>
        </p:spPr>
        <p:txBody>
          <a:bodyPr wrap="square">
            <a:spAutoFit/>
          </a:bodyPr>
          <a:lstStyle/>
          <a:p>
            <a:pPr algn="ctr"/>
            <a:r>
              <a:rPr sz="1600" b="1">
                <a:solidFill>
                  <a:srgbClr val="1A3A5C"/>
                </a:solidFill>
              </a:rPr>
              <a:t>→</a:t>
            </a:r>
          </a:p>
        </p:txBody>
      </p:sp>
      <p:sp>
        <p:nvSpPr>
          <p:cNvPr id="7" name="Rectangle 6"/>
          <p:cNvSpPr/>
          <p:nvPr/>
        </p:nvSpPr>
        <p:spPr>
          <a:xfrm>
            <a:off x="1435608" y="1280160"/>
            <a:ext cx="10058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1298448"/>
            <a:ext cx="914400" cy="786384"/>
          </a:xfrm>
          <a:prstGeom prst="rect">
            <a:avLst/>
          </a:prstGeom>
          <a:noFill/>
        </p:spPr>
        <p:txBody>
          <a:bodyPr wrap="square">
            <a:spAutoFit/>
          </a:bodyPr>
          <a:lstStyle/>
          <a:p>
            <a:pPr algn="ctr"/>
            <a:r>
              <a:rPr sz="800" b="1">
                <a:solidFill>
                  <a:srgbClr val="FFFFFF"/>
                </a:solidFill>
              </a:rPr>
              <a:t>Log
Captured</a:t>
            </a:r>
          </a:p>
        </p:txBody>
      </p:sp>
      <p:sp>
        <p:nvSpPr>
          <p:cNvPr id="9" name="TextBox 8"/>
          <p:cNvSpPr txBox="1"/>
          <p:nvPr/>
        </p:nvSpPr>
        <p:spPr>
          <a:xfrm>
            <a:off x="2441448" y="1463040"/>
            <a:ext cx="164592" cy="457200"/>
          </a:xfrm>
          <a:prstGeom prst="rect">
            <a:avLst/>
          </a:prstGeom>
          <a:noFill/>
        </p:spPr>
        <p:txBody>
          <a:bodyPr wrap="square">
            <a:spAutoFit/>
          </a:bodyPr>
          <a:lstStyle/>
          <a:p>
            <a:pPr algn="ctr"/>
            <a:r>
              <a:rPr sz="1600" b="1">
                <a:solidFill>
                  <a:srgbClr val="1A3A5C"/>
                </a:solidFill>
              </a:rPr>
              <a:t>→</a:t>
            </a:r>
          </a:p>
        </p:txBody>
      </p:sp>
      <p:sp>
        <p:nvSpPr>
          <p:cNvPr id="10" name="Rectangle 9"/>
          <p:cNvSpPr/>
          <p:nvPr/>
        </p:nvSpPr>
        <p:spPr>
          <a:xfrm>
            <a:off x="2596896" y="1280160"/>
            <a:ext cx="1005840" cy="822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42615" y="1298448"/>
            <a:ext cx="914400" cy="786384"/>
          </a:xfrm>
          <a:prstGeom prst="rect">
            <a:avLst/>
          </a:prstGeom>
          <a:noFill/>
        </p:spPr>
        <p:txBody>
          <a:bodyPr wrap="square">
            <a:spAutoFit/>
          </a:bodyPr>
          <a:lstStyle/>
          <a:p>
            <a:pPr algn="ctr"/>
            <a:r>
              <a:rPr sz="800" b="1">
                <a:solidFill>
                  <a:srgbClr val="FFFFFF"/>
                </a:solidFill>
              </a:rPr>
              <a:t>Alert
Triggered</a:t>
            </a:r>
          </a:p>
        </p:txBody>
      </p:sp>
      <p:sp>
        <p:nvSpPr>
          <p:cNvPr id="12" name="TextBox 11"/>
          <p:cNvSpPr txBox="1"/>
          <p:nvPr/>
        </p:nvSpPr>
        <p:spPr>
          <a:xfrm>
            <a:off x="3602736" y="1463040"/>
            <a:ext cx="164592" cy="457200"/>
          </a:xfrm>
          <a:prstGeom prst="rect">
            <a:avLst/>
          </a:prstGeom>
          <a:noFill/>
        </p:spPr>
        <p:txBody>
          <a:bodyPr wrap="square">
            <a:spAutoFit/>
          </a:bodyPr>
          <a:lstStyle/>
          <a:p>
            <a:pPr algn="ctr"/>
            <a:r>
              <a:rPr sz="1600" b="1">
                <a:solidFill>
                  <a:srgbClr val="1A3A5C"/>
                </a:solidFill>
              </a:rPr>
              <a:t>→</a:t>
            </a:r>
          </a:p>
        </p:txBody>
      </p:sp>
      <p:sp>
        <p:nvSpPr>
          <p:cNvPr id="13" name="Rectangle 12"/>
          <p:cNvSpPr/>
          <p:nvPr/>
        </p:nvSpPr>
        <p:spPr>
          <a:xfrm>
            <a:off x="3758184" y="1280160"/>
            <a:ext cx="1005840" cy="822960"/>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3904" y="1298448"/>
            <a:ext cx="914400" cy="786384"/>
          </a:xfrm>
          <a:prstGeom prst="rect">
            <a:avLst/>
          </a:prstGeom>
          <a:noFill/>
        </p:spPr>
        <p:txBody>
          <a:bodyPr wrap="square">
            <a:spAutoFit/>
          </a:bodyPr>
          <a:lstStyle/>
          <a:p>
            <a:pPr algn="ctr"/>
            <a:r>
              <a:rPr sz="800" b="1">
                <a:solidFill>
                  <a:srgbClr val="FFFFFF"/>
                </a:solidFill>
              </a:rPr>
              <a:t>Classify
Type</a:t>
            </a:r>
          </a:p>
        </p:txBody>
      </p:sp>
      <p:sp>
        <p:nvSpPr>
          <p:cNvPr id="15" name="TextBox 14"/>
          <p:cNvSpPr txBox="1"/>
          <p:nvPr/>
        </p:nvSpPr>
        <p:spPr>
          <a:xfrm>
            <a:off x="4764024" y="1463040"/>
            <a:ext cx="164592" cy="457200"/>
          </a:xfrm>
          <a:prstGeom prst="rect">
            <a:avLst/>
          </a:prstGeom>
          <a:noFill/>
        </p:spPr>
        <p:txBody>
          <a:bodyPr wrap="square">
            <a:spAutoFit/>
          </a:bodyPr>
          <a:lstStyle/>
          <a:p>
            <a:pPr algn="ctr"/>
            <a:r>
              <a:rPr sz="1600" b="1">
                <a:solidFill>
                  <a:srgbClr val="1A3A5C"/>
                </a:solidFill>
              </a:rPr>
              <a:t>→</a:t>
            </a:r>
          </a:p>
        </p:txBody>
      </p:sp>
      <p:sp>
        <p:nvSpPr>
          <p:cNvPr id="16" name="Rectangle 15"/>
          <p:cNvSpPr/>
          <p:nvPr/>
        </p:nvSpPr>
        <p:spPr>
          <a:xfrm>
            <a:off x="4919472" y="1280160"/>
            <a:ext cx="1005840" cy="822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65192" y="1298448"/>
            <a:ext cx="914400" cy="786384"/>
          </a:xfrm>
          <a:prstGeom prst="rect">
            <a:avLst/>
          </a:prstGeom>
          <a:noFill/>
        </p:spPr>
        <p:txBody>
          <a:bodyPr wrap="square">
            <a:spAutoFit/>
          </a:bodyPr>
          <a:lstStyle/>
          <a:p>
            <a:pPr algn="ctr"/>
            <a:r>
              <a:rPr sz="800" b="1">
                <a:solidFill>
                  <a:srgbClr val="FFFFFF"/>
                </a:solidFill>
              </a:rPr>
              <a:t>Reproduce
in DEV</a:t>
            </a:r>
          </a:p>
        </p:txBody>
      </p:sp>
      <p:sp>
        <p:nvSpPr>
          <p:cNvPr id="18" name="TextBox 17"/>
          <p:cNvSpPr txBox="1"/>
          <p:nvPr/>
        </p:nvSpPr>
        <p:spPr>
          <a:xfrm>
            <a:off x="5925312" y="1463040"/>
            <a:ext cx="164592" cy="457200"/>
          </a:xfrm>
          <a:prstGeom prst="rect">
            <a:avLst/>
          </a:prstGeom>
          <a:noFill/>
        </p:spPr>
        <p:txBody>
          <a:bodyPr wrap="square">
            <a:spAutoFit/>
          </a:bodyPr>
          <a:lstStyle/>
          <a:p>
            <a:pPr algn="ctr"/>
            <a:r>
              <a:rPr sz="1600" b="1">
                <a:solidFill>
                  <a:srgbClr val="1A3A5C"/>
                </a:solidFill>
              </a:rPr>
              <a:t>→</a:t>
            </a:r>
          </a:p>
        </p:txBody>
      </p:sp>
      <p:sp>
        <p:nvSpPr>
          <p:cNvPr id="19" name="Rectangle 18"/>
          <p:cNvSpPr/>
          <p:nvPr/>
        </p:nvSpPr>
        <p:spPr>
          <a:xfrm>
            <a:off x="6080759" y="1280160"/>
            <a:ext cx="1005840" cy="822960"/>
          </a:xfrm>
          <a:prstGeom prst="rect">
            <a:avLst/>
          </a:prstGeom>
          <a:solidFill>
            <a:srgbClr val="134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79" y="1298448"/>
            <a:ext cx="914400" cy="786384"/>
          </a:xfrm>
          <a:prstGeom prst="rect">
            <a:avLst/>
          </a:prstGeom>
          <a:noFill/>
        </p:spPr>
        <p:txBody>
          <a:bodyPr wrap="square">
            <a:spAutoFit/>
          </a:bodyPr>
          <a:lstStyle/>
          <a:p>
            <a:pPr algn="ctr"/>
            <a:r>
              <a:rPr sz="800" b="1">
                <a:solidFill>
                  <a:srgbClr val="FFFFFF"/>
                </a:solidFill>
              </a:rPr>
              <a:t>Apply
Fix</a:t>
            </a:r>
          </a:p>
        </p:txBody>
      </p:sp>
      <p:sp>
        <p:nvSpPr>
          <p:cNvPr id="21" name="TextBox 20"/>
          <p:cNvSpPr txBox="1"/>
          <p:nvPr/>
        </p:nvSpPr>
        <p:spPr>
          <a:xfrm>
            <a:off x="7086600" y="1463040"/>
            <a:ext cx="164592" cy="457200"/>
          </a:xfrm>
          <a:prstGeom prst="rect">
            <a:avLst/>
          </a:prstGeom>
          <a:noFill/>
        </p:spPr>
        <p:txBody>
          <a:bodyPr wrap="square">
            <a:spAutoFit/>
          </a:bodyPr>
          <a:lstStyle/>
          <a:p>
            <a:pPr algn="ctr"/>
            <a:r>
              <a:rPr sz="1600" b="1">
                <a:solidFill>
                  <a:srgbClr val="1A3A5C"/>
                </a:solidFill>
              </a:rPr>
              <a:t>→</a:t>
            </a:r>
          </a:p>
        </p:txBody>
      </p:sp>
      <p:sp>
        <p:nvSpPr>
          <p:cNvPr id="22" name="Rectangle 21"/>
          <p:cNvSpPr/>
          <p:nvPr/>
        </p:nvSpPr>
        <p:spPr>
          <a:xfrm>
            <a:off x="7242048" y="1280160"/>
            <a:ext cx="10058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87768" y="1298448"/>
            <a:ext cx="914400" cy="786384"/>
          </a:xfrm>
          <a:prstGeom prst="rect">
            <a:avLst/>
          </a:prstGeom>
          <a:noFill/>
        </p:spPr>
        <p:txBody>
          <a:bodyPr wrap="square">
            <a:spAutoFit/>
          </a:bodyPr>
          <a:lstStyle/>
          <a:p>
            <a:pPr algn="ctr"/>
            <a:r>
              <a:rPr sz="800" b="1">
                <a:solidFill>
                  <a:srgbClr val="FFFFFF"/>
                </a:solidFill>
              </a:rPr>
              <a:t>Test 50
Orders</a:t>
            </a:r>
          </a:p>
        </p:txBody>
      </p:sp>
      <p:sp>
        <p:nvSpPr>
          <p:cNvPr id="24" name="TextBox 23"/>
          <p:cNvSpPr txBox="1"/>
          <p:nvPr/>
        </p:nvSpPr>
        <p:spPr>
          <a:xfrm>
            <a:off x="8247888" y="1463040"/>
            <a:ext cx="164592" cy="457200"/>
          </a:xfrm>
          <a:prstGeom prst="rect">
            <a:avLst/>
          </a:prstGeom>
          <a:noFill/>
        </p:spPr>
        <p:txBody>
          <a:bodyPr wrap="square">
            <a:spAutoFit/>
          </a:bodyPr>
          <a:lstStyle/>
          <a:p>
            <a:pPr algn="ctr"/>
            <a:r>
              <a:rPr sz="1600" b="1">
                <a:solidFill>
                  <a:srgbClr val="1A3A5C"/>
                </a:solidFill>
              </a:rPr>
              <a:t>→</a:t>
            </a:r>
          </a:p>
        </p:txBody>
      </p:sp>
      <p:sp>
        <p:nvSpPr>
          <p:cNvPr id="25" name="Rectangle 24"/>
          <p:cNvSpPr/>
          <p:nvPr/>
        </p:nvSpPr>
        <p:spPr>
          <a:xfrm>
            <a:off x="8403336" y="1280160"/>
            <a:ext cx="1005840" cy="822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49056" y="1298448"/>
            <a:ext cx="914400" cy="786384"/>
          </a:xfrm>
          <a:prstGeom prst="rect">
            <a:avLst/>
          </a:prstGeom>
          <a:noFill/>
        </p:spPr>
        <p:txBody>
          <a:bodyPr wrap="square">
            <a:spAutoFit/>
          </a:bodyPr>
          <a:lstStyle/>
          <a:p>
            <a:pPr algn="ctr"/>
            <a:r>
              <a:rPr sz="800" b="1">
                <a:solidFill>
                  <a:srgbClr val="FFFFFF"/>
                </a:solidFill>
              </a:rPr>
              <a:t>Deploy
to PROD</a:t>
            </a:r>
          </a:p>
        </p:txBody>
      </p:sp>
      <p:sp>
        <p:nvSpPr>
          <p:cNvPr id="27" name="TextBox 26"/>
          <p:cNvSpPr txBox="1"/>
          <p:nvPr/>
        </p:nvSpPr>
        <p:spPr>
          <a:xfrm>
            <a:off x="9409176" y="1463040"/>
            <a:ext cx="164592" cy="457200"/>
          </a:xfrm>
          <a:prstGeom prst="rect">
            <a:avLst/>
          </a:prstGeom>
          <a:noFill/>
        </p:spPr>
        <p:txBody>
          <a:bodyPr wrap="square">
            <a:spAutoFit/>
          </a:bodyPr>
          <a:lstStyle/>
          <a:p>
            <a:pPr algn="ctr"/>
            <a:r>
              <a:rPr sz="1600" b="1">
                <a:solidFill>
                  <a:srgbClr val="1A3A5C"/>
                </a:solidFill>
              </a:rPr>
              <a:t>→</a:t>
            </a:r>
          </a:p>
        </p:txBody>
      </p:sp>
      <p:sp>
        <p:nvSpPr>
          <p:cNvPr id="28" name="Rectangle 27"/>
          <p:cNvSpPr/>
          <p:nvPr/>
        </p:nvSpPr>
        <p:spPr>
          <a:xfrm>
            <a:off x="9564624" y="1280160"/>
            <a:ext cx="1005840" cy="822960"/>
          </a:xfrm>
          <a:prstGeom prst="rect">
            <a:avLst/>
          </a:prstGeom>
          <a:solidFill>
            <a:srgbClr val="1453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0344" y="1298448"/>
            <a:ext cx="914400" cy="786384"/>
          </a:xfrm>
          <a:prstGeom prst="rect">
            <a:avLst/>
          </a:prstGeom>
          <a:noFill/>
        </p:spPr>
        <p:txBody>
          <a:bodyPr wrap="square">
            <a:spAutoFit/>
          </a:bodyPr>
          <a:lstStyle/>
          <a:p>
            <a:pPr algn="ctr"/>
            <a:r>
              <a:rPr sz="800" b="1">
                <a:solidFill>
                  <a:srgbClr val="FFFFFF"/>
                </a:solidFill>
              </a:rPr>
              <a:t>Monitor
24hr</a:t>
            </a:r>
          </a:p>
        </p:txBody>
      </p:sp>
      <p:sp>
        <p:nvSpPr>
          <p:cNvPr id="30" name="TextBox 29"/>
          <p:cNvSpPr txBox="1"/>
          <p:nvPr/>
        </p:nvSpPr>
        <p:spPr>
          <a:xfrm>
            <a:off x="10570464" y="1463040"/>
            <a:ext cx="164592" cy="457200"/>
          </a:xfrm>
          <a:prstGeom prst="rect">
            <a:avLst/>
          </a:prstGeom>
          <a:noFill/>
        </p:spPr>
        <p:txBody>
          <a:bodyPr wrap="square">
            <a:spAutoFit/>
          </a:bodyPr>
          <a:lstStyle/>
          <a:p>
            <a:pPr algn="ctr"/>
            <a:r>
              <a:rPr sz="1600" b="1">
                <a:solidFill>
                  <a:srgbClr val="1A3A5C"/>
                </a:solidFill>
              </a:rPr>
              <a:t>→</a:t>
            </a:r>
          </a:p>
        </p:txBody>
      </p:sp>
      <p:sp>
        <p:nvSpPr>
          <p:cNvPr id="31" name="Rectangle 30"/>
          <p:cNvSpPr/>
          <p:nvPr/>
        </p:nvSpPr>
        <p:spPr>
          <a:xfrm>
            <a:off x="10725912" y="1280160"/>
            <a:ext cx="1005840" cy="82296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71632" y="1298448"/>
            <a:ext cx="914400" cy="786384"/>
          </a:xfrm>
          <a:prstGeom prst="rect">
            <a:avLst/>
          </a:prstGeom>
          <a:noFill/>
        </p:spPr>
        <p:txBody>
          <a:bodyPr wrap="square">
            <a:spAutoFit/>
          </a:bodyPr>
          <a:lstStyle/>
          <a:p>
            <a:pPr algn="ctr"/>
            <a:r>
              <a:rPr sz="800" b="1">
                <a:solidFill>
                  <a:srgbClr val="FFFFFF"/>
                </a:solidFill>
              </a:rPr>
              <a:t>Close
Incident</a:t>
            </a:r>
          </a:p>
        </p:txBody>
      </p:sp>
      <p:sp>
        <p:nvSpPr>
          <p:cNvPr id="33" name="Rectangle 32"/>
          <p:cNvSpPr/>
          <p:nvPr/>
        </p:nvSpPr>
        <p:spPr>
          <a:xfrm>
            <a:off x="274320" y="2423160"/>
            <a:ext cx="365760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2423160"/>
            <a:ext cx="365760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 y="2487168"/>
            <a:ext cx="3438144" cy="347472"/>
          </a:xfrm>
          <a:prstGeom prst="rect">
            <a:avLst/>
          </a:prstGeom>
          <a:noFill/>
        </p:spPr>
        <p:txBody>
          <a:bodyPr wrap="square">
            <a:spAutoFit/>
          </a:bodyPr>
          <a:lstStyle/>
          <a:p>
            <a:pPr algn="l"/>
            <a:r>
              <a:rPr sz="1100" b="1">
                <a:solidFill>
                  <a:srgbClr val="2563EB"/>
                </a:solidFill>
              </a:rPr>
              <a:t>System Exception</a:t>
            </a:r>
          </a:p>
        </p:txBody>
      </p:sp>
      <p:sp>
        <p:nvSpPr>
          <p:cNvPr id="36" name="TextBox 35"/>
          <p:cNvSpPr txBox="1"/>
          <p:nvPr/>
        </p:nvSpPr>
        <p:spPr>
          <a:xfrm>
            <a:off x="384048" y="2852928"/>
            <a:ext cx="3438144" cy="822960"/>
          </a:xfrm>
          <a:prstGeom prst="rect">
            <a:avLst/>
          </a:prstGeom>
          <a:noFill/>
        </p:spPr>
        <p:txBody>
          <a:bodyPr wrap="square">
            <a:spAutoFit/>
          </a:bodyPr>
          <a:lstStyle/>
          <a:p>
            <a:pPr algn="l"/>
            <a:r>
              <a:rPr sz="900" b="0">
                <a:solidFill>
                  <a:srgbClr val="1A3A5C"/>
                </a:solidFill>
              </a:rPr>
              <a:t>Auto-retry 3× → If persistent: pause bot → Notify DevOps → Hotfix selector/infrastructure</a:t>
            </a:r>
          </a:p>
        </p:txBody>
      </p:sp>
      <p:sp>
        <p:nvSpPr>
          <p:cNvPr id="37" name="Rectangle 36"/>
          <p:cNvSpPr/>
          <p:nvPr/>
        </p:nvSpPr>
        <p:spPr>
          <a:xfrm>
            <a:off x="4114800" y="2423160"/>
            <a:ext cx="365760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0" y="2423160"/>
            <a:ext cx="365760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2487168"/>
            <a:ext cx="3438144" cy="347472"/>
          </a:xfrm>
          <a:prstGeom prst="rect">
            <a:avLst/>
          </a:prstGeom>
          <a:noFill/>
        </p:spPr>
        <p:txBody>
          <a:bodyPr wrap="square">
            <a:spAutoFit/>
          </a:bodyPr>
          <a:lstStyle/>
          <a:p>
            <a:pPr algn="l"/>
            <a:r>
              <a:rPr sz="1100" b="1">
                <a:solidFill>
                  <a:srgbClr val="F59E0B"/>
                </a:solidFill>
              </a:rPr>
              <a:t>Business Exception</a:t>
            </a:r>
          </a:p>
        </p:txBody>
      </p:sp>
      <p:sp>
        <p:nvSpPr>
          <p:cNvPr id="40" name="TextBox 39"/>
          <p:cNvSpPr txBox="1"/>
          <p:nvPr/>
        </p:nvSpPr>
        <p:spPr>
          <a:xfrm>
            <a:off x="4224528" y="2852928"/>
            <a:ext cx="3438144" cy="822960"/>
          </a:xfrm>
          <a:prstGeom prst="rect">
            <a:avLst/>
          </a:prstGeom>
          <a:noFill/>
        </p:spPr>
        <p:txBody>
          <a:bodyPr wrap="square">
            <a:spAutoFit/>
          </a:bodyPr>
          <a:lstStyle/>
          <a:p>
            <a:pPr algn="l"/>
            <a:r>
              <a:rPr sz="900" b="0">
                <a:solidFill>
                  <a:srgbClr val="1A3A5C"/>
                </a:solidFill>
              </a:rPr>
              <a:t>Move to Exception Queue → Human review within 2 hours → Reprocess with corrected data</a:t>
            </a:r>
          </a:p>
        </p:txBody>
      </p:sp>
      <p:sp>
        <p:nvSpPr>
          <p:cNvPr id="41" name="Rectangle 40"/>
          <p:cNvSpPr/>
          <p:nvPr/>
        </p:nvSpPr>
        <p:spPr>
          <a:xfrm>
            <a:off x="7955279" y="2423160"/>
            <a:ext cx="3657600" cy="1371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955279" y="2423160"/>
            <a:ext cx="3657600" cy="64008"/>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65007" y="2487168"/>
            <a:ext cx="3438144" cy="347472"/>
          </a:xfrm>
          <a:prstGeom prst="rect">
            <a:avLst/>
          </a:prstGeom>
          <a:noFill/>
        </p:spPr>
        <p:txBody>
          <a:bodyPr wrap="square">
            <a:spAutoFit/>
          </a:bodyPr>
          <a:lstStyle/>
          <a:p>
            <a:pPr algn="l"/>
            <a:r>
              <a:rPr sz="1100" b="1">
                <a:solidFill>
                  <a:srgbClr val="9333EA"/>
                </a:solidFill>
              </a:rPr>
              <a:t>App Exception</a:t>
            </a:r>
          </a:p>
        </p:txBody>
      </p:sp>
      <p:sp>
        <p:nvSpPr>
          <p:cNvPr id="44" name="TextBox 43"/>
          <p:cNvSpPr txBox="1"/>
          <p:nvPr/>
        </p:nvSpPr>
        <p:spPr>
          <a:xfrm>
            <a:off x="8065007" y="2852928"/>
            <a:ext cx="3438144" cy="822960"/>
          </a:xfrm>
          <a:prstGeom prst="rect">
            <a:avLst/>
          </a:prstGeom>
          <a:noFill/>
        </p:spPr>
        <p:txBody>
          <a:bodyPr wrap="square">
            <a:spAutoFit/>
          </a:bodyPr>
          <a:lstStyle/>
          <a:p>
            <a:pPr algn="l"/>
            <a:r>
              <a:rPr sz="900" b="0">
                <a:solidFill>
                  <a:srgbClr val="1A3A5C"/>
                </a:solidFill>
              </a:rPr>
              <a:t>Enable OCR fallback → Reroute to alternate parser → Log for vendor notification</a:t>
            </a:r>
          </a:p>
        </p:txBody>
      </p:sp>
      <p:sp>
        <p:nvSpPr>
          <p:cNvPr id="45" name="TextBox 44"/>
          <p:cNvSpPr txBox="1"/>
          <p:nvPr/>
        </p:nvSpPr>
        <p:spPr>
          <a:xfrm>
            <a:off x="274320" y="4114800"/>
            <a:ext cx="11612880" cy="365760"/>
          </a:xfrm>
          <a:prstGeom prst="rect">
            <a:avLst/>
          </a:prstGeom>
          <a:noFill/>
        </p:spPr>
        <p:txBody>
          <a:bodyPr wrap="square">
            <a:spAutoFit/>
          </a:bodyPr>
          <a:lstStyle/>
          <a:p>
            <a:pPr algn="ctr"/>
            <a:r>
              <a:rPr sz="1100" b="0">
                <a:solidFill>
                  <a:srgbClr val="64748B"/>
                </a:solidFill>
              </a:rPr>
              <a:t>Each exception type has its own handling path — reducing Mean Time to Resolution (MTTR)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Section 3 — Bot Optimization Strategies</a:t>
            </a:r>
          </a:p>
        </p:txBody>
      </p:sp>
      <p:sp>
        <p:nvSpPr>
          <p:cNvPr id="4" name="Rectangle 3"/>
          <p:cNvSpPr/>
          <p:nvPr/>
        </p:nvSpPr>
        <p:spPr>
          <a:xfrm>
            <a:off x="274320" y="114300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143000"/>
            <a:ext cx="557784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280160"/>
            <a:ext cx="5303520" cy="411480"/>
          </a:xfrm>
          <a:prstGeom prst="rect">
            <a:avLst/>
          </a:prstGeom>
          <a:noFill/>
        </p:spPr>
        <p:txBody>
          <a:bodyPr wrap="square">
            <a:spAutoFit/>
          </a:bodyPr>
          <a:lstStyle/>
          <a:p>
            <a:pPr algn="l"/>
            <a:r>
              <a:rPr sz="1300" b="1">
                <a:solidFill>
                  <a:srgbClr val="1A3A5C"/>
                </a:solidFill>
              </a:rPr>
              <a:t>⚡ Performance</a:t>
            </a:r>
          </a:p>
        </p:txBody>
      </p:sp>
      <p:sp>
        <p:nvSpPr>
          <p:cNvPr id="7" name="TextBox 6"/>
          <p:cNvSpPr txBox="1"/>
          <p:nvPr/>
        </p:nvSpPr>
        <p:spPr>
          <a:xfrm>
            <a:off x="411479" y="1737360"/>
            <a:ext cx="5303520" cy="1645920"/>
          </a:xfrm>
          <a:prstGeom prst="rect">
            <a:avLst/>
          </a:prstGeom>
          <a:noFill/>
        </p:spPr>
        <p:txBody>
          <a:bodyPr wrap="square">
            <a:spAutoFit/>
          </a:bodyPr>
          <a:lstStyle/>
          <a:p>
            <a:pPr algn="l"/>
            <a:r>
              <a:rPr sz="1000" b="0">
                <a:solidFill>
                  <a:srgbClr val="1E293B"/>
                </a:solidFill>
              </a:rPr>
              <a:t>• 5 parallel bot lanes via Work Queues
• DB composite index: 30s → &lt;200ms
• Lazy UI loading: -40% wait time
• Batch inventory API calls (50 per batch)</a:t>
            </a:r>
          </a:p>
        </p:txBody>
      </p:sp>
      <p:sp>
        <p:nvSpPr>
          <p:cNvPr id="8" name="Rectangle 7"/>
          <p:cNvSpPr/>
          <p:nvPr/>
        </p:nvSpPr>
        <p:spPr>
          <a:xfrm>
            <a:off x="6126480" y="114300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143000"/>
            <a:ext cx="5577840"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280160"/>
            <a:ext cx="5303520" cy="411480"/>
          </a:xfrm>
          <a:prstGeom prst="rect">
            <a:avLst/>
          </a:prstGeom>
          <a:noFill/>
        </p:spPr>
        <p:txBody>
          <a:bodyPr wrap="square">
            <a:spAutoFit/>
          </a:bodyPr>
          <a:lstStyle/>
          <a:p>
            <a:pPr algn="l"/>
            <a:r>
              <a:rPr sz="1300" b="1">
                <a:solidFill>
                  <a:srgbClr val="1A3A5C"/>
                </a:solidFill>
              </a:rPr>
              <a:t>🛡️ Reliability</a:t>
            </a:r>
          </a:p>
        </p:txBody>
      </p:sp>
      <p:sp>
        <p:nvSpPr>
          <p:cNvPr id="11" name="TextBox 10"/>
          <p:cNvSpPr txBox="1"/>
          <p:nvPr/>
        </p:nvSpPr>
        <p:spPr>
          <a:xfrm>
            <a:off x="6263640" y="1737360"/>
            <a:ext cx="5303520" cy="1645920"/>
          </a:xfrm>
          <a:prstGeom prst="rect">
            <a:avLst/>
          </a:prstGeom>
          <a:noFill/>
        </p:spPr>
        <p:txBody>
          <a:bodyPr wrap="square">
            <a:spAutoFit/>
          </a:bodyPr>
          <a:lstStyle/>
          <a:p>
            <a:pPr algn="l"/>
            <a:r>
              <a:rPr sz="1000" b="0">
                <a:solidFill>
                  <a:srgbClr val="1E293B"/>
                </a:solidFill>
              </a:rPr>
              <a:t>• Idempotency keys eliminate duplicates
• Dynamic anchor-based selectors
• JSON schema validation on ERP feed
• Circuit breaker on DB error spikes</a:t>
            </a:r>
          </a:p>
        </p:txBody>
      </p:sp>
      <p:sp>
        <p:nvSpPr>
          <p:cNvPr id="12" name="Rectangle 11"/>
          <p:cNvSpPr/>
          <p:nvPr/>
        </p:nvSpPr>
        <p:spPr>
          <a:xfrm>
            <a:off x="274320" y="370332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703320"/>
            <a:ext cx="5577840"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3840480"/>
            <a:ext cx="5303520" cy="411480"/>
          </a:xfrm>
          <a:prstGeom prst="rect">
            <a:avLst/>
          </a:prstGeom>
          <a:noFill/>
        </p:spPr>
        <p:txBody>
          <a:bodyPr wrap="square">
            <a:spAutoFit/>
          </a:bodyPr>
          <a:lstStyle/>
          <a:p>
            <a:pPr algn="l"/>
            <a:r>
              <a:rPr sz="1300" b="1">
                <a:solidFill>
                  <a:srgbClr val="1A3A5C"/>
                </a:solidFill>
              </a:rPr>
              <a:t>🔧 Maintainability</a:t>
            </a:r>
          </a:p>
        </p:txBody>
      </p:sp>
      <p:sp>
        <p:nvSpPr>
          <p:cNvPr id="15" name="TextBox 14"/>
          <p:cNvSpPr txBox="1"/>
          <p:nvPr/>
        </p:nvSpPr>
        <p:spPr>
          <a:xfrm>
            <a:off x="411479" y="4297680"/>
            <a:ext cx="5303520" cy="1645920"/>
          </a:xfrm>
          <a:prstGeom prst="rect">
            <a:avLst/>
          </a:prstGeom>
          <a:noFill/>
        </p:spPr>
        <p:txBody>
          <a:bodyPr wrap="square">
            <a:spAutoFit/>
          </a:bodyPr>
          <a:lstStyle/>
          <a:p>
            <a:pPr algn="l"/>
            <a:r>
              <a:rPr sz="1000" b="0">
                <a:solidFill>
                  <a:srgbClr val="1E293B"/>
                </a:solidFill>
              </a:rPr>
              <a:t>• Centralized selector library in Orchestrator
• Modular .xaml workflows per stage
• Config-driven (no code deploy for params)
• OCR pipeline for scanned PDFs</a:t>
            </a:r>
          </a:p>
        </p:txBody>
      </p:sp>
      <p:sp>
        <p:nvSpPr>
          <p:cNvPr id="16" name="Rectangle 15"/>
          <p:cNvSpPr/>
          <p:nvPr/>
        </p:nvSpPr>
        <p:spPr>
          <a:xfrm>
            <a:off x="6126480" y="3703320"/>
            <a:ext cx="55778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703320"/>
            <a:ext cx="5577840" cy="73152"/>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3840480"/>
            <a:ext cx="5303520" cy="411480"/>
          </a:xfrm>
          <a:prstGeom prst="rect">
            <a:avLst/>
          </a:prstGeom>
          <a:noFill/>
        </p:spPr>
        <p:txBody>
          <a:bodyPr wrap="square">
            <a:spAutoFit/>
          </a:bodyPr>
          <a:lstStyle/>
          <a:p>
            <a:pPr algn="l"/>
            <a:r>
              <a:rPr sz="1300" b="1">
                <a:solidFill>
                  <a:srgbClr val="1A3A5C"/>
                </a:solidFill>
              </a:rPr>
              <a:t>🗓️ Scheduling</a:t>
            </a:r>
          </a:p>
        </p:txBody>
      </p:sp>
      <p:sp>
        <p:nvSpPr>
          <p:cNvPr id="19" name="TextBox 18"/>
          <p:cNvSpPr txBox="1"/>
          <p:nvPr/>
        </p:nvSpPr>
        <p:spPr>
          <a:xfrm>
            <a:off x="6263640" y="4297680"/>
            <a:ext cx="5303520" cy="1645920"/>
          </a:xfrm>
          <a:prstGeom prst="rect">
            <a:avLst/>
          </a:prstGeom>
          <a:noFill/>
        </p:spPr>
        <p:txBody>
          <a:bodyPr wrap="square">
            <a:spAutoFit/>
          </a:bodyPr>
          <a:lstStyle/>
          <a:p>
            <a:pPr algn="l"/>
            <a:r>
              <a:rPr sz="1000" b="0">
                <a:solidFill>
                  <a:srgbClr val="1E293B"/>
                </a:solidFill>
              </a:rPr>
              <a:t>• Peak (8AM–6PM): 5 bot instances
• Off-peak (6PM–8AM): 2 instances
• Maintenance: 2AM–4AM daily window
• VIP queue: 15-minute SLA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Before vs. After Optimization — Key Metrics</a:t>
            </a:r>
          </a:p>
        </p:txBody>
      </p:sp>
      <p:sp>
        <p:nvSpPr>
          <p:cNvPr id="4" name="Rectangle 3"/>
          <p:cNvSpPr/>
          <p:nvPr/>
        </p:nvSpPr>
        <p:spPr>
          <a:xfrm>
            <a:off x="274320" y="1097280"/>
            <a:ext cx="5303520" cy="53949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97280"/>
            <a:ext cx="5303520" cy="45720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143000"/>
            <a:ext cx="5029200" cy="365760"/>
          </a:xfrm>
          <a:prstGeom prst="rect">
            <a:avLst/>
          </a:prstGeom>
          <a:noFill/>
        </p:spPr>
        <p:txBody>
          <a:bodyPr wrap="square">
            <a:spAutoFit/>
          </a:bodyPr>
          <a:lstStyle/>
          <a:p>
            <a:pPr algn="l"/>
            <a:r>
              <a:rPr sz="1300" b="1">
                <a:solidFill>
                  <a:srgbClr val="FFFFFF"/>
                </a:solidFill>
              </a:rPr>
              <a:t>❌  BEFORE Optimization</a:t>
            </a:r>
          </a:p>
        </p:txBody>
      </p:sp>
      <p:sp>
        <p:nvSpPr>
          <p:cNvPr id="7" name="TextBox 6"/>
          <p:cNvSpPr txBox="1"/>
          <p:nvPr/>
        </p:nvSpPr>
        <p:spPr>
          <a:xfrm>
            <a:off x="411480" y="1691640"/>
            <a:ext cx="5029200" cy="457200"/>
          </a:xfrm>
          <a:prstGeom prst="rect">
            <a:avLst/>
          </a:prstGeom>
          <a:noFill/>
        </p:spPr>
        <p:txBody>
          <a:bodyPr wrap="square">
            <a:spAutoFit/>
          </a:bodyPr>
          <a:lstStyle/>
          <a:p>
            <a:pPr algn="l"/>
            <a:r>
              <a:rPr sz="1100" b="0">
                <a:solidFill>
                  <a:srgbClr val="7F1D1D"/>
                </a:solidFill>
              </a:rPr>
              <a:t>✗  Success rate: 71%</a:t>
            </a:r>
          </a:p>
        </p:txBody>
      </p:sp>
      <p:sp>
        <p:nvSpPr>
          <p:cNvPr id="8" name="TextBox 7"/>
          <p:cNvSpPr txBox="1"/>
          <p:nvPr/>
        </p:nvSpPr>
        <p:spPr>
          <a:xfrm>
            <a:off x="411480" y="2194560"/>
            <a:ext cx="5029200" cy="457200"/>
          </a:xfrm>
          <a:prstGeom prst="rect">
            <a:avLst/>
          </a:prstGeom>
          <a:noFill/>
        </p:spPr>
        <p:txBody>
          <a:bodyPr wrap="square">
            <a:spAutoFit/>
          </a:bodyPr>
          <a:lstStyle/>
          <a:p>
            <a:pPr algn="l"/>
            <a:r>
              <a:rPr sz="1100" b="0">
                <a:solidFill>
                  <a:srgbClr val="7F1D1D"/>
                </a:solidFill>
              </a:rPr>
              <a:t>✗  Processing time: 4.2 min/order</a:t>
            </a:r>
          </a:p>
        </p:txBody>
      </p:sp>
      <p:sp>
        <p:nvSpPr>
          <p:cNvPr id="9" name="TextBox 8"/>
          <p:cNvSpPr txBox="1"/>
          <p:nvPr/>
        </p:nvSpPr>
        <p:spPr>
          <a:xfrm>
            <a:off x="411480" y="2697480"/>
            <a:ext cx="5029200" cy="457200"/>
          </a:xfrm>
          <a:prstGeom prst="rect">
            <a:avLst/>
          </a:prstGeom>
          <a:noFill/>
        </p:spPr>
        <p:txBody>
          <a:bodyPr wrap="square">
            <a:spAutoFit/>
          </a:bodyPr>
          <a:lstStyle/>
          <a:p>
            <a:pPr algn="l"/>
            <a:r>
              <a:rPr sz="1100" b="0">
                <a:solidFill>
                  <a:srgbClr val="7F1D1D"/>
                </a:solidFill>
              </a:rPr>
              <a:t>✗  Duplicate orders: ~12 incidents/week</a:t>
            </a:r>
          </a:p>
        </p:txBody>
      </p:sp>
      <p:sp>
        <p:nvSpPr>
          <p:cNvPr id="10" name="TextBox 9"/>
          <p:cNvSpPr txBox="1"/>
          <p:nvPr/>
        </p:nvSpPr>
        <p:spPr>
          <a:xfrm>
            <a:off x="411480" y="3200400"/>
            <a:ext cx="5029200" cy="457200"/>
          </a:xfrm>
          <a:prstGeom prst="rect">
            <a:avLst/>
          </a:prstGeom>
          <a:noFill/>
        </p:spPr>
        <p:txBody>
          <a:bodyPr wrap="square">
            <a:spAutoFit/>
          </a:bodyPr>
          <a:lstStyle/>
          <a:p>
            <a:pPr algn="l"/>
            <a:r>
              <a:rPr sz="1100" b="0">
                <a:solidFill>
                  <a:srgbClr val="7F1D1D"/>
                </a:solidFill>
              </a:rPr>
              <a:t>✗  DB timeouts: 80+ per peak hour</a:t>
            </a:r>
          </a:p>
        </p:txBody>
      </p:sp>
      <p:sp>
        <p:nvSpPr>
          <p:cNvPr id="11" name="TextBox 10"/>
          <p:cNvSpPr txBox="1"/>
          <p:nvPr/>
        </p:nvSpPr>
        <p:spPr>
          <a:xfrm>
            <a:off x="411480" y="3703320"/>
            <a:ext cx="5029200" cy="457200"/>
          </a:xfrm>
          <a:prstGeom prst="rect">
            <a:avLst/>
          </a:prstGeom>
          <a:noFill/>
        </p:spPr>
        <p:txBody>
          <a:bodyPr wrap="square">
            <a:spAutoFit/>
          </a:bodyPr>
          <a:lstStyle/>
          <a:p>
            <a:pPr algn="l"/>
            <a:r>
              <a:rPr sz="1100" b="0">
                <a:solidFill>
                  <a:srgbClr val="7F1D1D"/>
                </a:solidFill>
              </a:rPr>
              <a:t>✗  Manual overhead: 3.5 hours/day</a:t>
            </a:r>
          </a:p>
        </p:txBody>
      </p:sp>
      <p:sp>
        <p:nvSpPr>
          <p:cNvPr id="12" name="TextBox 11"/>
          <p:cNvSpPr txBox="1"/>
          <p:nvPr/>
        </p:nvSpPr>
        <p:spPr>
          <a:xfrm>
            <a:off x="411480" y="4206240"/>
            <a:ext cx="5029200" cy="457200"/>
          </a:xfrm>
          <a:prstGeom prst="rect">
            <a:avLst/>
          </a:prstGeom>
          <a:noFill/>
        </p:spPr>
        <p:txBody>
          <a:bodyPr wrap="square">
            <a:spAutoFit/>
          </a:bodyPr>
          <a:lstStyle/>
          <a:p>
            <a:pPr algn="l"/>
            <a:r>
              <a:rPr sz="1100" b="0">
                <a:solidFill>
                  <a:srgbClr val="7F1D1D"/>
                </a:solidFill>
              </a:rPr>
              <a:t>✗  Selector failures after every frontend deploy</a:t>
            </a:r>
          </a:p>
        </p:txBody>
      </p:sp>
      <p:sp>
        <p:nvSpPr>
          <p:cNvPr id="13" name="TextBox 12"/>
          <p:cNvSpPr txBox="1"/>
          <p:nvPr/>
        </p:nvSpPr>
        <p:spPr>
          <a:xfrm>
            <a:off x="411480" y="4709160"/>
            <a:ext cx="5029200" cy="457200"/>
          </a:xfrm>
          <a:prstGeom prst="rect">
            <a:avLst/>
          </a:prstGeom>
          <a:noFill/>
        </p:spPr>
        <p:txBody>
          <a:bodyPr wrap="square">
            <a:spAutoFit/>
          </a:bodyPr>
          <a:lstStyle/>
          <a:p>
            <a:pPr algn="l"/>
            <a:r>
              <a:rPr sz="1100" b="0">
                <a:solidFill>
                  <a:srgbClr val="7F1D1D"/>
                </a:solidFill>
              </a:rPr>
              <a:t>✗  Throughput: 120 orders/hour</a:t>
            </a:r>
          </a:p>
        </p:txBody>
      </p:sp>
      <p:sp>
        <p:nvSpPr>
          <p:cNvPr id="14" name="TextBox 13"/>
          <p:cNvSpPr txBox="1"/>
          <p:nvPr/>
        </p:nvSpPr>
        <p:spPr>
          <a:xfrm>
            <a:off x="411480" y="5212080"/>
            <a:ext cx="5029200" cy="457200"/>
          </a:xfrm>
          <a:prstGeom prst="rect">
            <a:avLst/>
          </a:prstGeom>
          <a:noFill/>
        </p:spPr>
        <p:txBody>
          <a:bodyPr wrap="square">
            <a:spAutoFit/>
          </a:bodyPr>
          <a:lstStyle/>
          <a:p>
            <a:pPr algn="l"/>
            <a:r>
              <a:rPr sz="1100" b="0">
                <a:solidFill>
                  <a:srgbClr val="7F1D1D"/>
                </a:solidFill>
              </a:rPr>
              <a:t>✗  Config changes require code deployment</a:t>
            </a:r>
          </a:p>
        </p:txBody>
      </p:sp>
      <p:sp>
        <p:nvSpPr>
          <p:cNvPr id="15" name="Rectangle 14"/>
          <p:cNvSpPr/>
          <p:nvPr/>
        </p:nvSpPr>
        <p:spPr>
          <a:xfrm>
            <a:off x="6583680" y="1097280"/>
            <a:ext cx="5303520" cy="539496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0" y="1097280"/>
            <a:ext cx="530352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1143000"/>
            <a:ext cx="5029200" cy="365760"/>
          </a:xfrm>
          <a:prstGeom prst="rect">
            <a:avLst/>
          </a:prstGeom>
          <a:noFill/>
        </p:spPr>
        <p:txBody>
          <a:bodyPr wrap="square">
            <a:spAutoFit/>
          </a:bodyPr>
          <a:lstStyle/>
          <a:p>
            <a:pPr algn="l"/>
            <a:r>
              <a:rPr sz="1300" b="1">
                <a:solidFill>
                  <a:srgbClr val="FFFFFF"/>
                </a:solidFill>
              </a:rPr>
              <a:t>✅  AFTER Optimization</a:t>
            </a:r>
          </a:p>
        </p:txBody>
      </p:sp>
      <p:sp>
        <p:nvSpPr>
          <p:cNvPr id="18" name="TextBox 17"/>
          <p:cNvSpPr txBox="1"/>
          <p:nvPr/>
        </p:nvSpPr>
        <p:spPr>
          <a:xfrm>
            <a:off x="6720840" y="1691640"/>
            <a:ext cx="5029200" cy="457200"/>
          </a:xfrm>
          <a:prstGeom prst="rect">
            <a:avLst/>
          </a:prstGeom>
          <a:noFill/>
        </p:spPr>
        <p:txBody>
          <a:bodyPr wrap="square">
            <a:spAutoFit/>
          </a:bodyPr>
          <a:lstStyle/>
          <a:p>
            <a:pPr algn="l"/>
            <a:r>
              <a:rPr sz="1100" b="0">
                <a:solidFill>
                  <a:srgbClr val="065F46"/>
                </a:solidFill>
              </a:rPr>
              <a:t>✓  Success rate: 97.4% (+26%)</a:t>
            </a:r>
          </a:p>
        </p:txBody>
      </p:sp>
      <p:sp>
        <p:nvSpPr>
          <p:cNvPr id="19" name="TextBox 18"/>
          <p:cNvSpPr txBox="1"/>
          <p:nvPr/>
        </p:nvSpPr>
        <p:spPr>
          <a:xfrm>
            <a:off x="6720840" y="2194560"/>
            <a:ext cx="5029200" cy="457200"/>
          </a:xfrm>
          <a:prstGeom prst="rect">
            <a:avLst/>
          </a:prstGeom>
          <a:noFill/>
        </p:spPr>
        <p:txBody>
          <a:bodyPr wrap="square">
            <a:spAutoFit/>
          </a:bodyPr>
          <a:lstStyle/>
          <a:p>
            <a:pPr algn="l"/>
            <a:r>
              <a:rPr sz="1100" b="0">
                <a:solidFill>
                  <a:srgbClr val="065F46"/>
                </a:solidFill>
              </a:rPr>
              <a:t>✓  Processing time: 1.8 min/order (57% faster)</a:t>
            </a:r>
          </a:p>
        </p:txBody>
      </p:sp>
      <p:sp>
        <p:nvSpPr>
          <p:cNvPr id="20" name="TextBox 19"/>
          <p:cNvSpPr txBox="1"/>
          <p:nvPr/>
        </p:nvSpPr>
        <p:spPr>
          <a:xfrm>
            <a:off x="6720840" y="2697480"/>
            <a:ext cx="5029200" cy="457200"/>
          </a:xfrm>
          <a:prstGeom prst="rect">
            <a:avLst/>
          </a:prstGeom>
          <a:noFill/>
        </p:spPr>
        <p:txBody>
          <a:bodyPr wrap="square">
            <a:spAutoFit/>
          </a:bodyPr>
          <a:lstStyle/>
          <a:p>
            <a:pPr algn="l"/>
            <a:r>
              <a:rPr sz="1100" b="0">
                <a:solidFill>
                  <a:srgbClr val="065F46"/>
                </a:solidFill>
              </a:rPr>
              <a:t>✓  Duplicate orders: 0 incidents</a:t>
            </a:r>
          </a:p>
        </p:txBody>
      </p:sp>
      <p:sp>
        <p:nvSpPr>
          <p:cNvPr id="21" name="TextBox 20"/>
          <p:cNvSpPr txBox="1"/>
          <p:nvPr/>
        </p:nvSpPr>
        <p:spPr>
          <a:xfrm>
            <a:off x="6720840" y="3200400"/>
            <a:ext cx="5029200" cy="457200"/>
          </a:xfrm>
          <a:prstGeom prst="rect">
            <a:avLst/>
          </a:prstGeom>
          <a:noFill/>
        </p:spPr>
        <p:txBody>
          <a:bodyPr wrap="square">
            <a:spAutoFit/>
          </a:bodyPr>
          <a:lstStyle/>
          <a:p>
            <a:pPr algn="l"/>
            <a:r>
              <a:rPr sz="1100" b="0">
                <a:solidFill>
                  <a:srgbClr val="065F46"/>
                </a:solidFill>
              </a:rPr>
              <a:t>✓  DB timeouts: eliminated (&lt;200ms)</a:t>
            </a:r>
          </a:p>
        </p:txBody>
      </p:sp>
      <p:sp>
        <p:nvSpPr>
          <p:cNvPr id="22" name="TextBox 21"/>
          <p:cNvSpPr txBox="1"/>
          <p:nvPr/>
        </p:nvSpPr>
        <p:spPr>
          <a:xfrm>
            <a:off x="6720840" y="3703320"/>
            <a:ext cx="5029200" cy="457200"/>
          </a:xfrm>
          <a:prstGeom prst="rect">
            <a:avLst/>
          </a:prstGeom>
          <a:noFill/>
        </p:spPr>
        <p:txBody>
          <a:bodyPr wrap="square">
            <a:spAutoFit/>
          </a:bodyPr>
          <a:lstStyle/>
          <a:p>
            <a:pPr algn="l"/>
            <a:r>
              <a:rPr sz="1100" b="0">
                <a:solidFill>
                  <a:srgbClr val="065F46"/>
                </a:solidFill>
              </a:rPr>
              <a:t>✓  Manual overhead: 12 min/day (96% less)</a:t>
            </a:r>
          </a:p>
        </p:txBody>
      </p:sp>
      <p:sp>
        <p:nvSpPr>
          <p:cNvPr id="23" name="TextBox 22"/>
          <p:cNvSpPr txBox="1"/>
          <p:nvPr/>
        </p:nvSpPr>
        <p:spPr>
          <a:xfrm>
            <a:off x="6720840" y="4206240"/>
            <a:ext cx="5029200" cy="457200"/>
          </a:xfrm>
          <a:prstGeom prst="rect">
            <a:avLst/>
          </a:prstGeom>
          <a:noFill/>
        </p:spPr>
        <p:txBody>
          <a:bodyPr wrap="square">
            <a:spAutoFit/>
          </a:bodyPr>
          <a:lstStyle/>
          <a:p>
            <a:pPr algn="l"/>
            <a:r>
              <a:rPr sz="1100" b="0">
                <a:solidFill>
                  <a:srgbClr val="065F46"/>
                </a:solidFill>
              </a:rPr>
              <a:t>✓  Dynamic selectors survive all deployments</a:t>
            </a:r>
          </a:p>
        </p:txBody>
      </p:sp>
      <p:sp>
        <p:nvSpPr>
          <p:cNvPr id="24" name="TextBox 23"/>
          <p:cNvSpPr txBox="1"/>
          <p:nvPr/>
        </p:nvSpPr>
        <p:spPr>
          <a:xfrm>
            <a:off x="6720840" y="4709160"/>
            <a:ext cx="5029200" cy="457200"/>
          </a:xfrm>
          <a:prstGeom prst="rect">
            <a:avLst/>
          </a:prstGeom>
          <a:noFill/>
        </p:spPr>
        <p:txBody>
          <a:bodyPr wrap="square">
            <a:spAutoFit/>
          </a:bodyPr>
          <a:lstStyle/>
          <a:p>
            <a:pPr algn="l"/>
            <a:r>
              <a:rPr sz="1100" b="0">
                <a:solidFill>
                  <a:srgbClr val="065F46"/>
                </a:solidFill>
              </a:rPr>
              <a:t>✓  Throughput: 600 orders/hour (5× increase)</a:t>
            </a:r>
          </a:p>
        </p:txBody>
      </p:sp>
      <p:sp>
        <p:nvSpPr>
          <p:cNvPr id="25" name="TextBox 24"/>
          <p:cNvSpPr txBox="1"/>
          <p:nvPr/>
        </p:nvSpPr>
        <p:spPr>
          <a:xfrm>
            <a:off x="6720840" y="5212080"/>
            <a:ext cx="5029200" cy="457200"/>
          </a:xfrm>
          <a:prstGeom prst="rect">
            <a:avLst/>
          </a:prstGeom>
          <a:noFill/>
        </p:spPr>
        <p:txBody>
          <a:bodyPr wrap="square">
            <a:spAutoFit/>
          </a:bodyPr>
          <a:lstStyle/>
          <a:p>
            <a:pPr algn="l"/>
            <a:r>
              <a:rPr sz="1100" b="0">
                <a:solidFill>
                  <a:srgbClr val="065F46"/>
                </a:solidFill>
              </a:rPr>
              <a:t>✓  Zero-downtime config updates via Orchestrator</a:t>
            </a:r>
          </a:p>
        </p:txBody>
      </p:sp>
      <p:sp>
        <p:nvSpPr>
          <p:cNvPr id="26" name="TextBox 25"/>
          <p:cNvSpPr txBox="1"/>
          <p:nvPr/>
        </p:nvSpPr>
        <p:spPr>
          <a:xfrm>
            <a:off x="5760720" y="3383280"/>
            <a:ext cx="640080" cy="640080"/>
          </a:xfrm>
          <a:prstGeom prst="rect">
            <a:avLst/>
          </a:prstGeom>
          <a:noFill/>
        </p:spPr>
        <p:txBody>
          <a:bodyPr wrap="square">
            <a:spAutoFit/>
          </a:bodyPr>
          <a:lstStyle/>
          <a:p>
            <a:pPr algn="ctr"/>
            <a:r>
              <a:rPr sz="2000" b="1">
                <a:solidFill>
                  <a:srgbClr val="1A3A5C"/>
                </a:solidFill>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2400" b="1">
                <a:solidFill>
                  <a:srgbClr val="FFFFFF"/>
                </a:solidFill>
              </a:rPr>
              <a:t>Section 4 — Monitoring Dashboard KPIs</a:t>
            </a:r>
          </a:p>
        </p:txBody>
      </p:sp>
      <p:sp>
        <p:nvSpPr>
          <p:cNvPr id="4" name="Rectangle 3"/>
          <p:cNvSpPr/>
          <p:nvPr/>
        </p:nvSpPr>
        <p:spPr>
          <a:xfrm>
            <a:off x="274320" y="1188720"/>
            <a:ext cx="3611880" cy="21488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79" y="1353312"/>
            <a:ext cx="3337560" cy="365760"/>
          </a:xfrm>
          <a:prstGeom prst="rect">
            <a:avLst/>
          </a:prstGeom>
          <a:noFill/>
        </p:spPr>
        <p:txBody>
          <a:bodyPr wrap="square">
            <a:spAutoFit/>
          </a:bodyPr>
          <a:lstStyle/>
          <a:p>
            <a:pPr algn="l"/>
            <a:r>
              <a:rPr sz="1000" b="1">
                <a:solidFill>
                  <a:srgbClr val="FFFFFF"/>
                </a:solidFill>
              </a:rPr>
              <a:t>Total Orders Today</a:t>
            </a:r>
          </a:p>
        </p:txBody>
      </p:sp>
      <p:sp>
        <p:nvSpPr>
          <p:cNvPr id="6" name="TextBox 5"/>
          <p:cNvSpPr txBox="1"/>
          <p:nvPr/>
        </p:nvSpPr>
        <p:spPr>
          <a:xfrm>
            <a:off x="411479" y="1737360"/>
            <a:ext cx="3337560" cy="914400"/>
          </a:xfrm>
          <a:prstGeom prst="rect">
            <a:avLst/>
          </a:prstGeom>
          <a:noFill/>
        </p:spPr>
        <p:txBody>
          <a:bodyPr wrap="square">
            <a:spAutoFit/>
          </a:bodyPr>
          <a:lstStyle/>
          <a:p>
            <a:pPr algn="l"/>
            <a:r>
              <a:rPr sz="3000" b="1">
                <a:solidFill>
                  <a:srgbClr val="FFFFFF"/>
                </a:solidFill>
              </a:rPr>
              <a:t>4,827</a:t>
            </a:r>
          </a:p>
        </p:txBody>
      </p:sp>
      <p:sp>
        <p:nvSpPr>
          <p:cNvPr id="7" name="TextBox 6"/>
          <p:cNvSpPr txBox="1"/>
          <p:nvPr/>
        </p:nvSpPr>
        <p:spPr>
          <a:xfrm>
            <a:off x="411479" y="2788920"/>
            <a:ext cx="3337560" cy="384048"/>
          </a:xfrm>
          <a:prstGeom prst="rect">
            <a:avLst/>
          </a:prstGeom>
          <a:noFill/>
        </p:spPr>
        <p:txBody>
          <a:bodyPr wrap="square">
            <a:spAutoFit/>
          </a:bodyPr>
          <a:lstStyle/>
          <a:p>
            <a:pPr algn="l"/>
            <a:r>
              <a:rPr sz="1000" b="0">
                <a:solidFill>
                  <a:srgbClr val="A7F3D0"/>
                </a:solidFill>
              </a:rPr>
              <a:t>▲ 12% vs yesterday</a:t>
            </a:r>
          </a:p>
        </p:txBody>
      </p:sp>
      <p:sp>
        <p:nvSpPr>
          <p:cNvPr id="8" name="Rectangle 7"/>
          <p:cNvSpPr/>
          <p:nvPr/>
        </p:nvSpPr>
        <p:spPr>
          <a:xfrm>
            <a:off x="4160520" y="1188720"/>
            <a:ext cx="3611880" cy="2148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0" y="1353312"/>
            <a:ext cx="3337560" cy="365760"/>
          </a:xfrm>
          <a:prstGeom prst="rect">
            <a:avLst/>
          </a:prstGeom>
          <a:noFill/>
        </p:spPr>
        <p:txBody>
          <a:bodyPr wrap="square">
            <a:spAutoFit/>
          </a:bodyPr>
          <a:lstStyle/>
          <a:p>
            <a:pPr algn="l"/>
            <a:r>
              <a:rPr sz="1000" b="1">
                <a:solidFill>
                  <a:srgbClr val="FFFFFF"/>
                </a:solidFill>
              </a:rPr>
              <a:t>Success Rate</a:t>
            </a:r>
          </a:p>
        </p:txBody>
      </p:sp>
      <p:sp>
        <p:nvSpPr>
          <p:cNvPr id="10" name="TextBox 9"/>
          <p:cNvSpPr txBox="1"/>
          <p:nvPr/>
        </p:nvSpPr>
        <p:spPr>
          <a:xfrm>
            <a:off x="4297680" y="1737360"/>
            <a:ext cx="3337560" cy="914400"/>
          </a:xfrm>
          <a:prstGeom prst="rect">
            <a:avLst/>
          </a:prstGeom>
          <a:noFill/>
        </p:spPr>
        <p:txBody>
          <a:bodyPr wrap="square">
            <a:spAutoFit/>
          </a:bodyPr>
          <a:lstStyle/>
          <a:p>
            <a:pPr algn="l"/>
            <a:r>
              <a:rPr sz="3000" b="1">
                <a:solidFill>
                  <a:srgbClr val="FFFFFF"/>
                </a:solidFill>
              </a:rPr>
              <a:t>97.4%</a:t>
            </a:r>
          </a:p>
        </p:txBody>
      </p:sp>
      <p:sp>
        <p:nvSpPr>
          <p:cNvPr id="11" name="TextBox 10"/>
          <p:cNvSpPr txBox="1"/>
          <p:nvPr/>
        </p:nvSpPr>
        <p:spPr>
          <a:xfrm>
            <a:off x="4297680" y="2788920"/>
            <a:ext cx="3337560" cy="384048"/>
          </a:xfrm>
          <a:prstGeom prst="rect">
            <a:avLst/>
          </a:prstGeom>
          <a:noFill/>
        </p:spPr>
        <p:txBody>
          <a:bodyPr wrap="square">
            <a:spAutoFit/>
          </a:bodyPr>
          <a:lstStyle/>
          <a:p>
            <a:pPr algn="l"/>
            <a:r>
              <a:rPr sz="1000" b="0">
                <a:solidFill>
                  <a:srgbClr val="A7F3D0"/>
                </a:solidFill>
              </a:rPr>
              <a:t>▲ Above 95% SLA target</a:t>
            </a:r>
          </a:p>
        </p:txBody>
      </p:sp>
      <p:sp>
        <p:nvSpPr>
          <p:cNvPr id="12" name="Rectangle 11"/>
          <p:cNvSpPr/>
          <p:nvPr/>
        </p:nvSpPr>
        <p:spPr>
          <a:xfrm>
            <a:off x="8046720" y="1188720"/>
            <a:ext cx="3611880" cy="21488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1353312"/>
            <a:ext cx="3337560" cy="365760"/>
          </a:xfrm>
          <a:prstGeom prst="rect">
            <a:avLst/>
          </a:prstGeom>
          <a:noFill/>
        </p:spPr>
        <p:txBody>
          <a:bodyPr wrap="square">
            <a:spAutoFit/>
          </a:bodyPr>
          <a:lstStyle/>
          <a:p>
            <a:pPr algn="l"/>
            <a:r>
              <a:rPr sz="1000" b="1">
                <a:solidFill>
                  <a:srgbClr val="FFFFFF"/>
                </a:solidFill>
              </a:rPr>
              <a:t>Failed Orders</a:t>
            </a:r>
          </a:p>
        </p:txBody>
      </p:sp>
      <p:sp>
        <p:nvSpPr>
          <p:cNvPr id="14" name="TextBox 13"/>
          <p:cNvSpPr txBox="1"/>
          <p:nvPr/>
        </p:nvSpPr>
        <p:spPr>
          <a:xfrm>
            <a:off x="8183880" y="1737360"/>
            <a:ext cx="3337560" cy="914400"/>
          </a:xfrm>
          <a:prstGeom prst="rect">
            <a:avLst/>
          </a:prstGeom>
          <a:noFill/>
        </p:spPr>
        <p:txBody>
          <a:bodyPr wrap="square">
            <a:spAutoFit/>
          </a:bodyPr>
          <a:lstStyle/>
          <a:p>
            <a:pPr algn="l"/>
            <a:r>
              <a:rPr sz="3000" b="1">
                <a:solidFill>
                  <a:srgbClr val="FFFFFF"/>
                </a:solidFill>
              </a:rPr>
              <a:t>125</a:t>
            </a:r>
          </a:p>
        </p:txBody>
      </p:sp>
      <p:sp>
        <p:nvSpPr>
          <p:cNvPr id="15" name="TextBox 14"/>
          <p:cNvSpPr txBox="1"/>
          <p:nvPr/>
        </p:nvSpPr>
        <p:spPr>
          <a:xfrm>
            <a:off x="8183880" y="2788920"/>
            <a:ext cx="3337560" cy="384048"/>
          </a:xfrm>
          <a:prstGeom prst="rect">
            <a:avLst/>
          </a:prstGeom>
          <a:noFill/>
        </p:spPr>
        <p:txBody>
          <a:bodyPr wrap="square">
            <a:spAutoFit/>
          </a:bodyPr>
          <a:lstStyle/>
          <a:p>
            <a:pPr algn="l"/>
            <a:r>
              <a:rPr sz="1000" b="0">
                <a:solidFill>
                  <a:srgbClr val="A7F3D0"/>
                </a:solidFill>
              </a:rPr>
              <a:t>▼ 43% vs pre-optimization</a:t>
            </a:r>
          </a:p>
        </p:txBody>
      </p:sp>
      <p:sp>
        <p:nvSpPr>
          <p:cNvPr id="16" name="Rectangle 15"/>
          <p:cNvSpPr/>
          <p:nvPr/>
        </p:nvSpPr>
        <p:spPr>
          <a:xfrm>
            <a:off x="274320" y="3611880"/>
            <a:ext cx="3611880" cy="214884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79" y="3776472"/>
            <a:ext cx="3337560" cy="365760"/>
          </a:xfrm>
          <a:prstGeom prst="rect">
            <a:avLst/>
          </a:prstGeom>
          <a:noFill/>
        </p:spPr>
        <p:txBody>
          <a:bodyPr wrap="square">
            <a:spAutoFit/>
          </a:bodyPr>
          <a:lstStyle/>
          <a:p>
            <a:pPr algn="l"/>
            <a:r>
              <a:rPr sz="1000" b="1">
                <a:solidFill>
                  <a:srgbClr val="FFFFFF"/>
                </a:solidFill>
              </a:rPr>
              <a:t>Retries Executed</a:t>
            </a:r>
          </a:p>
        </p:txBody>
      </p:sp>
      <p:sp>
        <p:nvSpPr>
          <p:cNvPr id="18" name="TextBox 17"/>
          <p:cNvSpPr txBox="1"/>
          <p:nvPr/>
        </p:nvSpPr>
        <p:spPr>
          <a:xfrm>
            <a:off x="411479" y="4160520"/>
            <a:ext cx="3337560" cy="914400"/>
          </a:xfrm>
          <a:prstGeom prst="rect">
            <a:avLst/>
          </a:prstGeom>
          <a:noFill/>
        </p:spPr>
        <p:txBody>
          <a:bodyPr wrap="square">
            <a:spAutoFit/>
          </a:bodyPr>
          <a:lstStyle/>
          <a:p>
            <a:pPr algn="l"/>
            <a:r>
              <a:rPr sz="3000" b="1">
                <a:solidFill>
                  <a:srgbClr val="FFFFFF"/>
                </a:solidFill>
              </a:rPr>
              <a:t>218</a:t>
            </a:r>
          </a:p>
        </p:txBody>
      </p:sp>
      <p:sp>
        <p:nvSpPr>
          <p:cNvPr id="19" name="TextBox 18"/>
          <p:cNvSpPr txBox="1"/>
          <p:nvPr/>
        </p:nvSpPr>
        <p:spPr>
          <a:xfrm>
            <a:off x="411479" y="5212080"/>
            <a:ext cx="3337560" cy="384048"/>
          </a:xfrm>
          <a:prstGeom prst="rect">
            <a:avLst/>
          </a:prstGeom>
          <a:noFill/>
        </p:spPr>
        <p:txBody>
          <a:bodyPr wrap="square">
            <a:spAutoFit/>
          </a:bodyPr>
          <a:lstStyle/>
          <a:p>
            <a:pPr algn="l"/>
            <a:r>
              <a:rPr sz="1000" b="0">
                <a:solidFill>
                  <a:srgbClr val="A7F3D0"/>
                </a:solidFill>
              </a:rPr>
              <a:t>▼ 60% improvement</a:t>
            </a:r>
          </a:p>
        </p:txBody>
      </p:sp>
      <p:sp>
        <p:nvSpPr>
          <p:cNvPr id="20" name="Rectangle 19"/>
          <p:cNvSpPr/>
          <p:nvPr/>
        </p:nvSpPr>
        <p:spPr>
          <a:xfrm>
            <a:off x="4160520" y="3611880"/>
            <a:ext cx="3611880" cy="214884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3776472"/>
            <a:ext cx="3337560" cy="365760"/>
          </a:xfrm>
          <a:prstGeom prst="rect">
            <a:avLst/>
          </a:prstGeom>
          <a:noFill/>
        </p:spPr>
        <p:txBody>
          <a:bodyPr wrap="square">
            <a:spAutoFit/>
          </a:bodyPr>
          <a:lstStyle/>
          <a:p>
            <a:pPr algn="l"/>
            <a:r>
              <a:rPr sz="1000" b="1">
                <a:solidFill>
                  <a:srgbClr val="FFFFFF"/>
                </a:solidFill>
              </a:rPr>
              <a:t>Avg Process Time</a:t>
            </a:r>
          </a:p>
        </p:txBody>
      </p:sp>
      <p:sp>
        <p:nvSpPr>
          <p:cNvPr id="22" name="TextBox 21"/>
          <p:cNvSpPr txBox="1"/>
          <p:nvPr/>
        </p:nvSpPr>
        <p:spPr>
          <a:xfrm>
            <a:off x="4297680" y="4160520"/>
            <a:ext cx="3337560" cy="914400"/>
          </a:xfrm>
          <a:prstGeom prst="rect">
            <a:avLst/>
          </a:prstGeom>
          <a:noFill/>
        </p:spPr>
        <p:txBody>
          <a:bodyPr wrap="square">
            <a:spAutoFit/>
          </a:bodyPr>
          <a:lstStyle/>
          <a:p>
            <a:pPr algn="l"/>
            <a:r>
              <a:rPr sz="3000" b="1">
                <a:solidFill>
                  <a:srgbClr val="FFFFFF"/>
                </a:solidFill>
              </a:rPr>
              <a:t>1.8 min</a:t>
            </a:r>
          </a:p>
        </p:txBody>
      </p:sp>
      <p:sp>
        <p:nvSpPr>
          <p:cNvPr id="23" name="TextBox 22"/>
          <p:cNvSpPr txBox="1"/>
          <p:nvPr/>
        </p:nvSpPr>
        <p:spPr>
          <a:xfrm>
            <a:off x="4297680" y="5212080"/>
            <a:ext cx="3337560" cy="384048"/>
          </a:xfrm>
          <a:prstGeom prst="rect">
            <a:avLst/>
          </a:prstGeom>
          <a:noFill/>
        </p:spPr>
        <p:txBody>
          <a:bodyPr wrap="square">
            <a:spAutoFit/>
          </a:bodyPr>
          <a:lstStyle/>
          <a:p>
            <a:pPr algn="l"/>
            <a:r>
              <a:rPr sz="1000" b="0">
                <a:solidFill>
                  <a:srgbClr val="A7F3D0"/>
                </a:solidFill>
              </a:rPr>
              <a:t>▼ 57% faster per order</a:t>
            </a:r>
          </a:p>
        </p:txBody>
      </p:sp>
      <p:sp>
        <p:nvSpPr>
          <p:cNvPr id="24" name="Rectangle 23"/>
          <p:cNvSpPr/>
          <p:nvPr/>
        </p:nvSpPr>
        <p:spPr>
          <a:xfrm>
            <a:off x="8046720" y="3611880"/>
            <a:ext cx="3611880" cy="2148840"/>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80" y="3776472"/>
            <a:ext cx="3337560" cy="365760"/>
          </a:xfrm>
          <a:prstGeom prst="rect">
            <a:avLst/>
          </a:prstGeom>
          <a:noFill/>
        </p:spPr>
        <p:txBody>
          <a:bodyPr wrap="square">
            <a:spAutoFit/>
          </a:bodyPr>
          <a:lstStyle/>
          <a:p>
            <a:pPr algn="l"/>
            <a:r>
              <a:rPr sz="1000" b="1">
                <a:solidFill>
                  <a:srgbClr val="FFFFFF"/>
                </a:solidFill>
              </a:rPr>
              <a:t>Bot Uptime (30d)</a:t>
            </a:r>
          </a:p>
        </p:txBody>
      </p:sp>
      <p:sp>
        <p:nvSpPr>
          <p:cNvPr id="26" name="TextBox 25"/>
          <p:cNvSpPr txBox="1"/>
          <p:nvPr/>
        </p:nvSpPr>
        <p:spPr>
          <a:xfrm>
            <a:off x="8183880" y="4160520"/>
            <a:ext cx="3337560" cy="914400"/>
          </a:xfrm>
          <a:prstGeom prst="rect">
            <a:avLst/>
          </a:prstGeom>
          <a:noFill/>
        </p:spPr>
        <p:txBody>
          <a:bodyPr wrap="square">
            <a:spAutoFit/>
          </a:bodyPr>
          <a:lstStyle/>
          <a:p>
            <a:pPr algn="l"/>
            <a:r>
              <a:rPr sz="3000" b="1">
                <a:solidFill>
                  <a:srgbClr val="FFFFFF"/>
                </a:solidFill>
              </a:rPr>
              <a:t>99.2%</a:t>
            </a:r>
          </a:p>
        </p:txBody>
      </p:sp>
      <p:sp>
        <p:nvSpPr>
          <p:cNvPr id="27" name="TextBox 26"/>
          <p:cNvSpPr txBox="1"/>
          <p:nvPr/>
        </p:nvSpPr>
        <p:spPr>
          <a:xfrm>
            <a:off x="8183880" y="5212080"/>
            <a:ext cx="3337560" cy="384048"/>
          </a:xfrm>
          <a:prstGeom prst="rect">
            <a:avLst/>
          </a:prstGeom>
          <a:noFill/>
        </p:spPr>
        <p:txBody>
          <a:bodyPr wrap="square">
            <a:spAutoFit/>
          </a:bodyPr>
          <a:lstStyle/>
          <a:p>
            <a:pPr algn="l"/>
            <a:r>
              <a:rPr sz="1000" b="0">
                <a:solidFill>
                  <a:srgbClr val="A7F3D0"/>
                </a:solidFill>
              </a:rPr>
              <a:t>▲ Target: 99% — Exceeded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spAutoFit/>
          </a:bodyPr>
          <a:lstStyle/>
          <a:p>
            <a:pPr algn="l"/>
            <a:r>
              <a:rPr sz="2200" b="1">
                <a:solidFill>
                  <a:srgbClr val="FFFFFF"/>
                </a:solidFill>
              </a:rPr>
              <a:t>Section 5 — AI-Assisted Development: Vibe Coding with Claude Code</a:t>
            </a:r>
          </a:p>
        </p:txBody>
      </p:sp>
      <p:sp>
        <p:nvSpPr>
          <p:cNvPr id="4" name="Rectangle 3"/>
          <p:cNvSpPr/>
          <p:nvPr/>
        </p:nvSpPr>
        <p:spPr>
          <a:xfrm>
            <a:off x="274320" y="1097280"/>
            <a:ext cx="11640312" cy="100584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43000"/>
            <a:ext cx="4572000" cy="365760"/>
          </a:xfrm>
          <a:prstGeom prst="rect">
            <a:avLst/>
          </a:prstGeom>
          <a:noFill/>
        </p:spPr>
        <p:txBody>
          <a:bodyPr wrap="square">
            <a:spAutoFit/>
          </a:bodyPr>
          <a:lstStyle/>
          <a:p>
            <a:pPr algn="l"/>
            <a:r>
              <a:rPr sz="1200" b="1">
                <a:solidFill>
                  <a:srgbClr val="1A3A5C"/>
                </a:solidFill>
              </a:rPr>
              <a:t>What is Vibe Coding?</a:t>
            </a:r>
          </a:p>
        </p:txBody>
      </p:sp>
      <p:sp>
        <p:nvSpPr>
          <p:cNvPr id="6" name="TextBox 5"/>
          <p:cNvSpPr txBox="1"/>
          <p:nvPr/>
        </p:nvSpPr>
        <p:spPr>
          <a:xfrm>
            <a:off x="457200" y="1463040"/>
            <a:ext cx="11247120" cy="502920"/>
          </a:xfrm>
          <a:prstGeom prst="rect">
            <a:avLst/>
          </a:prstGeom>
          <a:noFill/>
        </p:spPr>
        <p:txBody>
          <a:bodyPr wrap="square">
            <a:spAutoFit/>
          </a:bodyPr>
          <a:lstStyle/>
          <a:p>
            <a:pPr algn="l"/>
            <a:r>
              <a:rPr sz="1000" b="0">
                <a:solidFill>
                  <a:srgbClr val="1E293B"/>
                </a:solidFill>
              </a:rPr>
              <a:t>Vibe coding = describing what you want in natural language → AI generates the implementation.
The developer acts as architect &amp; reviewer; Claude Code handles implementation details.</a:t>
            </a:r>
          </a:p>
        </p:txBody>
      </p:sp>
      <p:sp>
        <p:nvSpPr>
          <p:cNvPr id="7" name="Rectangle 6"/>
          <p:cNvSpPr/>
          <p:nvPr/>
        </p:nvSpPr>
        <p:spPr>
          <a:xfrm>
            <a:off x="274320" y="228600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2286000"/>
            <a:ext cx="562356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2395728"/>
            <a:ext cx="5394960" cy="320040"/>
          </a:xfrm>
          <a:prstGeom prst="rect">
            <a:avLst/>
          </a:prstGeom>
          <a:noFill/>
        </p:spPr>
        <p:txBody>
          <a:bodyPr wrap="square">
            <a:spAutoFit/>
          </a:bodyPr>
          <a:lstStyle/>
          <a:p>
            <a:pPr algn="l"/>
            <a:r>
              <a:rPr sz="1100" b="1">
                <a:solidFill>
                  <a:srgbClr val="1A3A5C"/>
                </a:solidFill>
              </a:rPr>
              <a:t>💬 Prompt Engineering</a:t>
            </a:r>
          </a:p>
        </p:txBody>
      </p:sp>
      <p:sp>
        <p:nvSpPr>
          <p:cNvPr id="10" name="TextBox 9"/>
          <p:cNvSpPr txBox="1"/>
          <p:nvPr/>
        </p:nvSpPr>
        <p:spPr>
          <a:xfrm>
            <a:off x="384048" y="2743200"/>
            <a:ext cx="5394960" cy="731520"/>
          </a:xfrm>
          <a:prstGeom prst="rect">
            <a:avLst/>
          </a:prstGeom>
          <a:noFill/>
        </p:spPr>
        <p:txBody>
          <a:bodyPr wrap="square">
            <a:spAutoFit/>
          </a:bodyPr>
          <a:lstStyle/>
          <a:p>
            <a:pPr algn="l"/>
            <a:r>
              <a:rPr sz="900" b="0">
                <a:solidFill>
                  <a:srgbClr val="1E293B"/>
                </a:solidFill>
              </a:rPr>
              <a:t>Full project requirements described in natural language → Claude structured architecture, layout, and component design from plain English.</a:t>
            </a:r>
          </a:p>
        </p:txBody>
      </p:sp>
      <p:sp>
        <p:nvSpPr>
          <p:cNvPr id="11" name="Rectangle 10"/>
          <p:cNvSpPr/>
          <p:nvPr/>
        </p:nvSpPr>
        <p:spPr>
          <a:xfrm>
            <a:off x="6172200" y="228600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2286000"/>
            <a:ext cx="5623560" cy="640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81928" y="2395728"/>
            <a:ext cx="5394960" cy="320040"/>
          </a:xfrm>
          <a:prstGeom prst="rect">
            <a:avLst/>
          </a:prstGeom>
          <a:noFill/>
        </p:spPr>
        <p:txBody>
          <a:bodyPr wrap="square">
            <a:spAutoFit/>
          </a:bodyPr>
          <a:lstStyle/>
          <a:p>
            <a:pPr algn="l"/>
            <a:r>
              <a:rPr sz="1100" b="1">
                <a:solidFill>
                  <a:srgbClr val="1A3A5C"/>
                </a:solidFill>
              </a:rPr>
              <a:t>🎨 UI/UX Generation</a:t>
            </a:r>
          </a:p>
        </p:txBody>
      </p:sp>
      <p:sp>
        <p:nvSpPr>
          <p:cNvPr id="14" name="TextBox 13"/>
          <p:cNvSpPr txBox="1"/>
          <p:nvPr/>
        </p:nvSpPr>
        <p:spPr>
          <a:xfrm>
            <a:off x="6281928" y="2743200"/>
            <a:ext cx="5394960" cy="731520"/>
          </a:xfrm>
          <a:prstGeom prst="rect">
            <a:avLst/>
          </a:prstGeom>
          <a:noFill/>
        </p:spPr>
        <p:txBody>
          <a:bodyPr wrap="square">
            <a:spAutoFit/>
          </a:bodyPr>
          <a:lstStyle/>
          <a:p>
            <a:pPr algn="l"/>
            <a:r>
              <a:rPr sz="900" b="0">
                <a:solidFill>
                  <a:srgbClr val="1E293B"/>
                </a:solidFill>
              </a:rPr>
              <a:t>Design specs like 'enterprise-style, navy/gold color scheme, card layout' became actual CSS gradients, grid systems, and styled components.</a:t>
            </a:r>
          </a:p>
        </p:txBody>
      </p:sp>
      <p:sp>
        <p:nvSpPr>
          <p:cNvPr id="15" name="Rectangle 14"/>
          <p:cNvSpPr/>
          <p:nvPr/>
        </p:nvSpPr>
        <p:spPr>
          <a:xfrm>
            <a:off x="274320" y="370332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 y="3703320"/>
            <a:ext cx="562356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4048" y="3813048"/>
            <a:ext cx="5394960" cy="320040"/>
          </a:xfrm>
          <a:prstGeom prst="rect">
            <a:avLst/>
          </a:prstGeom>
          <a:noFill/>
        </p:spPr>
        <p:txBody>
          <a:bodyPr wrap="square">
            <a:spAutoFit/>
          </a:bodyPr>
          <a:lstStyle/>
          <a:p>
            <a:pPr algn="l"/>
            <a:r>
              <a:rPr sz="1100" b="1">
                <a:solidFill>
                  <a:srgbClr val="1A3A5C"/>
                </a:solidFill>
              </a:rPr>
              <a:t>📋 Domain Synthesis</a:t>
            </a:r>
          </a:p>
        </p:txBody>
      </p:sp>
      <p:sp>
        <p:nvSpPr>
          <p:cNvPr id="18" name="TextBox 17"/>
          <p:cNvSpPr txBox="1"/>
          <p:nvPr/>
        </p:nvSpPr>
        <p:spPr>
          <a:xfrm>
            <a:off x="384048" y="4160520"/>
            <a:ext cx="5394960" cy="731520"/>
          </a:xfrm>
          <a:prstGeom prst="rect">
            <a:avLst/>
          </a:prstGeom>
          <a:noFill/>
        </p:spPr>
        <p:txBody>
          <a:bodyPr wrap="square">
            <a:spAutoFit/>
          </a:bodyPr>
          <a:lstStyle/>
          <a:p>
            <a:pPr algn="l"/>
            <a:r>
              <a:rPr sz="900" b="0">
                <a:solidFill>
                  <a:srgbClr val="1E293B"/>
                </a:solidFill>
              </a:rPr>
              <a:t>RPA error scenarios, root causes, and business impacts generated by feeding Claude domain context — technically accurate UiPath + e-commerce content.</a:t>
            </a:r>
          </a:p>
        </p:txBody>
      </p:sp>
      <p:sp>
        <p:nvSpPr>
          <p:cNvPr id="19" name="Rectangle 18"/>
          <p:cNvSpPr/>
          <p:nvPr/>
        </p:nvSpPr>
        <p:spPr>
          <a:xfrm>
            <a:off x="6172200" y="370332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703320"/>
            <a:ext cx="562356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3813048"/>
            <a:ext cx="5394960" cy="320040"/>
          </a:xfrm>
          <a:prstGeom prst="rect">
            <a:avLst/>
          </a:prstGeom>
          <a:noFill/>
        </p:spPr>
        <p:txBody>
          <a:bodyPr wrap="square">
            <a:spAutoFit/>
          </a:bodyPr>
          <a:lstStyle/>
          <a:p>
            <a:pPr algn="l"/>
            <a:r>
              <a:rPr sz="1100" b="1">
                <a:solidFill>
                  <a:srgbClr val="1A3A5C"/>
                </a:solidFill>
              </a:rPr>
              <a:t>🔄 Iterative Refinement</a:t>
            </a:r>
          </a:p>
        </p:txBody>
      </p:sp>
      <p:sp>
        <p:nvSpPr>
          <p:cNvPr id="22" name="TextBox 21"/>
          <p:cNvSpPr txBox="1"/>
          <p:nvPr/>
        </p:nvSpPr>
        <p:spPr>
          <a:xfrm>
            <a:off x="6281928" y="4160520"/>
            <a:ext cx="5394960" cy="731520"/>
          </a:xfrm>
          <a:prstGeom prst="rect">
            <a:avLst/>
          </a:prstGeom>
          <a:noFill/>
        </p:spPr>
        <p:txBody>
          <a:bodyPr wrap="square">
            <a:spAutoFit/>
          </a:bodyPr>
          <a:lstStyle/>
          <a:p>
            <a:pPr algn="l"/>
            <a:r>
              <a:rPr sz="900" b="0">
                <a:solidFill>
                  <a:srgbClr val="1E293B"/>
                </a:solidFill>
              </a:rPr>
              <a:t>Each section refined through prompt → generate → review loop. The decision flow evolved from a list to a visual step-by-step arrow flow via one prompt.</a:t>
            </a:r>
          </a:p>
        </p:txBody>
      </p:sp>
      <p:sp>
        <p:nvSpPr>
          <p:cNvPr id="23" name="Rectangle 22"/>
          <p:cNvSpPr/>
          <p:nvPr/>
        </p:nvSpPr>
        <p:spPr>
          <a:xfrm>
            <a:off x="274320" y="512064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320" y="5120640"/>
            <a:ext cx="5623560" cy="64008"/>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 y="5230368"/>
            <a:ext cx="5394960" cy="320040"/>
          </a:xfrm>
          <a:prstGeom prst="rect">
            <a:avLst/>
          </a:prstGeom>
          <a:noFill/>
        </p:spPr>
        <p:txBody>
          <a:bodyPr wrap="square">
            <a:spAutoFit/>
          </a:bodyPr>
          <a:lstStyle/>
          <a:p>
            <a:pPr algn="l"/>
            <a:r>
              <a:rPr sz="1100" b="1">
                <a:solidFill>
                  <a:srgbClr val="1A3A5C"/>
                </a:solidFill>
              </a:rPr>
              <a:t>⚙️ Full Stack Generation</a:t>
            </a:r>
          </a:p>
        </p:txBody>
      </p:sp>
      <p:sp>
        <p:nvSpPr>
          <p:cNvPr id="26" name="TextBox 25"/>
          <p:cNvSpPr txBox="1"/>
          <p:nvPr/>
        </p:nvSpPr>
        <p:spPr>
          <a:xfrm>
            <a:off x="384048" y="5577840"/>
            <a:ext cx="5394960" cy="731520"/>
          </a:xfrm>
          <a:prstGeom prst="rect">
            <a:avLst/>
          </a:prstGeom>
          <a:noFill/>
        </p:spPr>
        <p:txBody>
          <a:bodyPr wrap="square">
            <a:spAutoFit/>
          </a:bodyPr>
          <a:lstStyle/>
          <a:p>
            <a:pPr algn="l"/>
            <a:r>
              <a:rPr sz="900" b="0">
                <a:solidFill>
                  <a:srgbClr val="1E293B"/>
                </a:solidFill>
              </a:rPr>
              <a:t>Claude Code generated HTML/CSS/JS, Python PPT/Word scripts, folder structure, GitHub setup commands, and the video script — from conversation.</a:t>
            </a:r>
          </a:p>
        </p:txBody>
      </p:sp>
      <p:sp>
        <p:nvSpPr>
          <p:cNvPr id="27" name="Rectangle 26"/>
          <p:cNvSpPr/>
          <p:nvPr/>
        </p:nvSpPr>
        <p:spPr>
          <a:xfrm>
            <a:off x="6172200" y="5120640"/>
            <a:ext cx="56235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120640"/>
            <a:ext cx="5623560" cy="64008"/>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81928" y="5230368"/>
            <a:ext cx="5394960" cy="320040"/>
          </a:xfrm>
          <a:prstGeom prst="rect">
            <a:avLst/>
          </a:prstGeom>
          <a:noFill/>
        </p:spPr>
        <p:txBody>
          <a:bodyPr wrap="square">
            <a:spAutoFit/>
          </a:bodyPr>
          <a:lstStyle/>
          <a:p>
            <a:pPr algn="l"/>
            <a:r>
              <a:rPr sz="1100" b="1">
                <a:solidFill>
                  <a:srgbClr val="1A3A5C"/>
                </a:solidFill>
              </a:rPr>
              <a:t>📊 Consistent Mock Data</a:t>
            </a:r>
          </a:p>
        </p:txBody>
      </p:sp>
      <p:sp>
        <p:nvSpPr>
          <p:cNvPr id="30" name="TextBox 29"/>
          <p:cNvSpPr txBox="1"/>
          <p:nvPr/>
        </p:nvSpPr>
        <p:spPr>
          <a:xfrm>
            <a:off x="6281928" y="5577840"/>
            <a:ext cx="5394960" cy="731520"/>
          </a:xfrm>
          <a:prstGeom prst="rect">
            <a:avLst/>
          </a:prstGeom>
          <a:noFill/>
        </p:spPr>
        <p:txBody>
          <a:bodyPr wrap="square">
            <a:spAutoFit/>
          </a:bodyPr>
          <a:lstStyle/>
          <a:p>
            <a:pPr algn="l"/>
            <a:r>
              <a:rPr sz="900" b="0">
                <a:solidFill>
                  <a:srgbClr val="1E293B"/>
                </a:solidFill>
              </a:rPr>
              <a:t>Dashboard KPIs internally consistent and realistic. Before/after metrics logically aligned with the described optimization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TextBox 1"/>
          <p:cNvSpPr txBox="1"/>
          <p:nvPr/>
        </p:nvSpPr>
        <p:spPr>
          <a:xfrm>
            <a:off x="457200" y="365760"/>
            <a:ext cx="10972800" cy="731520"/>
          </a:xfrm>
          <a:prstGeom prst="rect">
            <a:avLst/>
          </a:prstGeom>
          <a:noFill/>
        </p:spPr>
        <p:txBody>
          <a:bodyPr wrap="square">
            <a:spAutoFit/>
          </a:bodyPr>
          <a:lstStyle/>
          <a:p>
            <a:pPr algn="ctr"/>
            <a:r>
              <a:rPr sz="3000" b="1">
                <a:solidFill>
                  <a:srgbClr val="FFFFFF"/>
                </a:solidFill>
              </a:rPr>
              <a:t>Key Results Summary</a:t>
            </a:r>
          </a:p>
        </p:txBody>
      </p:sp>
      <p:sp>
        <p:nvSpPr>
          <p:cNvPr id="3" name="Rectangle 2"/>
          <p:cNvSpPr/>
          <p:nvPr/>
        </p:nvSpPr>
        <p:spPr>
          <a:xfrm>
            <a:off x="2743200" y="1005840"/>
            <a:ext cx="6702552"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3383280" cy="8229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54480"/>
            <a:ext cx="3108960" cy="731520"/>
          </a:xfrm>
          <a:prstGeom prst="rect">
            <a:avLst/>
          </a:prstGeom>
          <a:noFill/>
        </p:spPr>
        <p:txBody>
          <a:bodyPr wrap="square">
            <a:spAutoFit/>
          </a:bodyPr>
          <a:lstStyle/>
          <a:p>
            <a:pPr algn="l"/>
            <a:r>
              <a:rPr sz="3600" b="1">
                <a:solidFill>
                  <a:srgbClr val="2563EB"/>
                </a:solidFill>
              </a:rPr>
              <a:t>↑26%</a:t>
            </a:r>
          </a:p>
        </p:txBody>
      </p:sp>
      <p:sp>
        <p:nvSpPr>
          <p:cNvPr id="7" name="TextBox 6"/>
          <p:cNvSpPr txBox="1"/>
          <p:nvPr/>
        </p:nvSpPr>
        <p:spPr>
          <a:xfrm>
            <a:off x="594360" y="2331720"/>
            <a:ext cx="3108960" cy="411480"/>
          </a:xfrm>
          <a:prstGeom prst="rect">
            <a:avLst/>
          </a:prstGeom>
          <a:noFill/>
        </p:spPr>
        <p:txBody>
          <a:bodyPr wrap="square">
            <a:spAutoFit/>
          </a:bodyPr>
          <a:lstStyle/>
          <a:p>
            <a:pPr algn="l"/>
            <a:r>
              <a:rPr sz="1200" b="1">
                <a:solidFill>
                  <a:srgbClr val="FFFFFF"/>
                </a:solidFill>
              </a:rPr>
              <a:t>Success Rate Gain</a:t>
            </a:r>
          </a:p>
        </p:txBody>
      </p:sp>
      <p:sp>
        <p:nvSpPr>
          <p:cNvPr id="8" name="TextBox 7"/>
          <p:cNvSpPr txBox="1"/>
          <p:nvPr/>
        </p:nvSpPr>
        <p:spPr>
          <a:xfrm>
            <a:off x="594360" y="2743200"/>
            <a:ext cx="3108960" cy="411480"/>
          </a:xfrm>
          <a:prstGeom prst="rect">
            <a:avLst/>
          </a:prstGeom>
          <a:noFill/>
        </p:spPr>
        <p:txBody>
          <a:bodyPr wrap="square">
            <a:spAutoFit/>
          </a:bodyPr>
          <a:lstStyle/>
          <a:p>
            <a:pPr algn="l"/>
            <a:r>
              <a:rPr sz="1000" b="0">
                <a:solidFill>
                  <a:srgbClr val="93C5FD"/>
                </a:solidFill>
              </a:rPr>
              <a:t>71% → 97.4%</a:t>
            </a:r>
          </a:p>
        </p:txBody>
      </p:sp>
      <p:sp>
        <p:nvSpPr>
          <p:cNvPr id="9" name="Rectangle 8"/>
          <p:cNvSpPr/>
          <p:nvPr/>
        </p:nvSpPr>
        <p:spPr>
          <a:xfrm>
            <a:off x="4206240" y="1371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06240" y="1371600"/>
            <a:ext cx="3383280" cy="8229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554480"/>
            <a:ext cx="3108960" cy="731520"/>
          </a:xfrm>
          <a:prstGeom prst="rect">
            <a:avLst/>
          </a:prstGeom>
          <a:noFill/>
        </p:spPr>
        <p:txBody>
          <a:bodyPr wrap="square">
            <a:spAutoFit/>
          </a:bodyPr>
          <a:lstStyle/>
          <a:p>
            <a:pPr algn="l"/>
            <a:r>
              <a:rPr sz="3600" b="1">
                <a:solidFill>
                  <a:srgbClr val="10B981"/>
                </a:solidFill>
              </a:rPr>
              <a:t>5×</a:t>
            </a:r>
          </a:p>
        </p:txBody>
      </p:sp>
      <p:sp>
        <p:nvSpPr>
          <p:cNvPr id="12" name="TextBox 11"/>
          <p:cNvSpPr txBox="1"/>
          <p:nvPr/>
        </p:nvSpPr>
        <p:spPr>
          <a:xfrm>
            <a:off x="4343400" y="2331720"/>
            <a:ext cx="3108960" cy="411480"/>
          </a:xfrm>
          <a:prstGeom prst="rect">
            <a:avLst/>
          </a:prstGeom>
          <a:noFill/>
        </p:spPr>
        <p:txBody>
          <a:bodyPr wrap="square">
            <a:spAutoFit/>
          </a:bodyPr>
          <a:lstStyle/>
          <a:p>
            <a:pPr algn="l"/>
            <a:r>
              <a:rPr sz="1200" b="1">
                <a:solidFill>
                  <a:srgbClr val="FFFFFF"/>
                </a:solidFill>
              </a:rPr>
              <a:t>Throughput Increase</a:t>
            </a:r>
          </a:p>
        </p:txBody>
      </p:sp>
      <p:sp>
        <p:nvSpPr>
          <p:cNvPr id="13" name="TextBox 12"/>
          <p:cNvSpPr txBox="1"/>
          <p:nvPr/>
        </p:nvSpPr>
        <p:spPr>
          <a:xfrm>
            <a:off x="4343400" y="2743200"/>
            <a:ext cx="3108960" cy="411480"/>
          </a:xfrm>
          <a:prstGeom prst="rect">
            <a:avLst/>
          </a:prstGeom>
          <a:noFill/>
        </p:spPr>
        <p:txBody>
          <a:bodyPr wrap="square">
            <a:spAutoFit/>
          </a:bodyPr>
          <a:lstStyle/>
          <a:p>
            <a:pPr algn="l"/>
            <a:r>
              <a:rPr sz="1000" b="0">
                <a:solidFill>
                  <a:srgbClr val="93C5FD"/>
                </a:solidFill>
              </a:rPr>
              <a:t>120 → 600 orders/hr</a:t>
            </a:r>
          </a:p>
        </p:txBody>
      </p:sp>
      <p:sp>
        <p:nvSpPr>
          <p:cNvPr id="14" name="Rectangle 13"/>
          <p:cNvSpPr/>
          <p:nvPr/>
        </p:nvSpPr>
        <p:spPr>
          <a:xfrm>
            <a:off x="7955279" y="1371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55279" y="1371600"/>
            <a:ext cx="3383280" cy="8229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554480"/>
            <a:ext cx="3108960" cy="731520"/>
          </a:xfrm>
          <a:prstGeom prst="rect">
            <a:avLst/>
          </a:prstGeom>
          <a:noFill/>
        </p:spPr>
        <p:txBody>
          <a:bodyPr wrap="square">
            <a:spAutoFit/>
          </a:bodyPr>
          <a:lstStyle/>
          <a:p>
            <a:pPr algn="l"/>
            <a:r>
              <a:rPr sz="3600" b="1">
                <a:solidFill>
                  <a:srgbClr val="F97316"/>
                </a:solidFill>
              </a:rPr>
              <a:t>57%</a:t>
            </a:r>
          </a:p>
        </p:txBody>
      </p:sp>
      <p:sp>
        <p:nvSpPr>
          <p:cNvPr id="17" name="TextBox 16"/>
          <p:cNvSpPr txBox="1"/>
          <p:nvPr/>
        </p:nvSpPr>
        <p:spPr>
          <a:xfrm>
            <a:off x="8092440" y="2331720"/>
            <a:ext cx="3108960" cy="411480"/>
          </a:xfrm>
          <a:prstGeom prst="rect">
            <a:avLst/>
          </a:prstGeom>
          <a:noFill/>
        </p:spPr>
        <p:txBody>
          <a:bodyPr wrap="square">
            <a:spAutoFit/>
          </a:bodyPr>
          <a:lstStyle/>
          <a:p>
            <a:pPr algn="l"/>
            <a:r>
              <a:rPr sz="1200" b="1">
                <a:solidFill>
                  <a:srgbClr val="FFFFFF"/>
                </a:solidFill>
              </a:rPr>
              <a:t>Faster Processing</a:t>
            </a:r>
          </a:p>
        </p:txBody>
      </p:sp>
      <p:sp>
        <p:nvSpPr>
          <p:cNvPr id="18" name="TextBox 17"/>
          <p:cNvSpPr txBox="1"/>
          <p:nvPr/>
        </p:nvSpPr>
        <p:spPr>
          <a:xfrm>
            <a:off x="8092440" y="2743200"/>
            <a:ext cx="3108960" cy="411480"/>
          </a:xfrm>
          <a:prstGeom prst="rect">
            <a:avLst/>
          </a:prstGeom>
          <a:noFill/>
        </p:spPr>
        <p:txBody>
          <a:bodyPr wrap="square">
            <a:spAutoFit/>
          </a:bodyPr>
          <a:lstStyle/>
          <a:p>
            <a:pPr algn="l"/>
            <a:r>
              <a:rPr sz="1000" b="0">
                <a:solidFill>
                  <a:srgbClr val="93C5FD"/>
                </a:solidFill>
              </a:rPr>
              <a:t>4.2min → 1.8min</a:t>
            </a:r>
          </a:p>
        </p:txBody>
      </p:sp>
      <p:sp>
        <p:nvSpPr>
          <p:cNvPr id="19" name="Rectangle 18"/>
          <p:cNvSpPr/>
          <p:nvPr/>
        </p:nvSpPr>
        <p:spPr>
          <a:xfrm>
            <a:off x="457200" y="3657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657600"/>
            <a:ext cx="3383280" cy="82296"/>
          </a:xfrm>
          <a:prstGeom prst="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840480"/>
            <a:ext cx="3108960" cy="731520"/>
          </a:xfrm>
          <a:prstGeom prst="rect">
            <a:avLst/>
          </a:prstGeom>
          <a:noFill/>
        </p:spPr>
        <p:txBody>
          <a:bodyPr wrap="square">
            <a:spAutoFit/>
          </a:bodyPr>
          <a:lstStyle/>
          <a:p>
            <a:pPr algn="l"/>
            <a:r>
              <a:rPr sz="3600" b="1">
                <a:solidFill>
                  <a:srgbClr val="9333EA"/>
                </a:solidFill>
              </a:rPr>
              <a:t>96%</a:t>
            </a:r>
          </a:p>
        </p:txBody>
      </p:sp>
      <p:sp>
        <p:nvSpPr>
          <p:cNvPr id="22" name="TextBox 21"/>
          <p:cNvSpPr txBox="1"/>
          <p:nvPr/>
        </p:nvSpPr>
        <p:spPr>
          <a:xfrm>
            <a:off x="594360" y="4617720"/>
            <a:ext cx="3108960" cy="411480"/>
          </a:xfrm>
          <a:prstGeom prst="rect">
            <a:avLst/>
          </a:prstGeom>
          <a:noFill/>
        </p:spPr>
        <p:txBody>
          <a:bodyPr wrap="square">
            <a:spAutoFit/>
          </a:bodyPr>
          <a:lstStyle/>
          <a:p>
            <a:pPr algn="l"/>
            <a:r>
              <a:rPr sz="1200" b="1">
                <a:solidFill>
                  <a:srgbClr val="FFFFFF"/>
                </a:solidFill>
              </a:rPr>
              <a:t>Manual Work Reduced</a:t>
            </a:r>
          </a:p>
        </p:txBody>
      </p:sp>
      <p:sp>
        <p:nvSpPr>
          <p:cNvPr id="23" name="TextBox 22"/>
          <p:cNvSpPr txBox="1"/>
          <p:nvPr/>
        </p:nvSpPr>
        <p:spPr>
          <a:xfrm>
            <a:off x="594360" y="5029200"/>
            <a:ext cx="3108960" cy="411480"/>
          </a:xfrm>
          <a:prstGeom prst="rect">
            <a:avLst/>
          </a:prstGeom>
          <a:noFill/>
        </p:spPr>
        <p:txBody>
          <a:bodyPr wrap="square">
            <a:spAutoFit/>
          </a:bodyPr>
          <a:lstStyle/>
          <a:p>
            <a:pPr algn="l"/>
            <a:r>
              <a:rPr sz="1000" b="0">
                <a:solidFill>
                  <a:srgbClr val="93C5FD"/>
                </a:solidFill>
              </a:rPr>
              <a:t>3.5hr → 12min/day</a:t>
            </a:r>
          </a:p>
        </p:txBody>
      </p:sp>
      <p:sp>
        <p:nvSpPr>
          <p:cNvPr id="24" name="Rectangle 23"/>
          <p:cNvSpPr/>
          <p:nvPr/>
        </p:nvSpPr>
        <p:spPr>
          <a:xfrm>
            <a:off x="4206240" y="3657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06240" y="3657600"/>
            <a:ext cx="3383280" cy="82296"/>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43400" y="3840480"/>
            <a:ext cx="3108960" cy="731520"/>
          </a:xfrm>
          <a:prstGeom prst="rect">
            <a:avLst/>
          </a:prstGeom>
          <a:noFill/>
        </p:spPr>
        <p:txBody>
          <a:bodyPr wrap="square">
            <a:spAutoFit/>
          </a:bodyPr>
          <a:lstStyle/>
          <a:p>
            <a:pPr algn="l"/>
            <a:r>
              <a:rPr sz="3600" b="1">
                <a:solidFill>
                  <a:srgbClr val="EF4444"/>
                </a:solidFill>
              </a:rPr>
              <a:t>0</a:t>
            </a:r>
          </a:p>
        </p:txBody>
      </p:sp>
      <p:sp>
        <p:nvSpPr>
          <p:cNvPr id="27" name="TextBox 26"/>
          <p:cNvSpPr txBox="1"/>
          <p:nvPr/>
        </p:nvSpPr>
        <p:spPr>
          <a:xfrm>
            <a:off x="4343400" y="4617720"/>
            <a:ext cx="3108960" cy="411480"/>
          </a:xfrm>
          <a:prstGeom prst="rect">
            <a:avLst/>
          </a:prstGeom>
          <a:noFill/>
        </p:spPr>
        <p:txBody>
          <a:bodyPr wrap="square">
            <a:spAutoFit/>
          </a:bodyPr>
          <a:lstStyle/>
          <a:p>
            <a:pPr algn="l"/>
            <a:r>
              <a:rPr sz="1200" b="1">
                <a:solidFill>
                  <a:srgbClr val="FFFFFF"/>
                </a:solidFill>
              </a:rPr>
              <a:t>Duplicate Orders</a:t>
            </a:r>
          </a:p>
        </p:txBody>
      </p:sp>
      <p:sp>
        <p:nvSpPr>
          <p:cNvPr id="28" name="TextBox 27"/>
          <p:cNvSpPr txBox="1"/>
          <p:nvPr/>
        </p:nvSpPr>
        <p:spPr>
          <a:xfrm>
            <a:off x="4343400" y="5029200"/>
            <a:ext cx="3108960" cy="411480"/>
          </a:xfrm>
          <a:prstGeom prst="rect">
            <a:avLst/>
          </a:prstGeom>
          <a:noFill/>
        </p:spPr>
        <p:txBody>
          <a:bodyPr wrap="square">
            <a:spAutoFit/>
          </a:bodyPr>
          <a:lstStyle/>
          <a:p>
            <a:pPr algn="l"/>
            <a:r>
              <a:rPr sz="1000" b="0">
                <a:solidFill>
                  <a:srgbClr val="93C5FD"/>
                </a:solidFill>
              </a:rPr>
              <a:t>Per month post-fix</a:t>
            </a:r>
          </a:p>
        </p:txBody>
      </p:sp>
      <p:sp>
        <p:nvSpPr>
          <p:cNvPr id="29" name="Rectangle 28"/>
          <p:cNvSpPr/>
          <p:nvPr/>
        </p:nvSpPr>
        <p:spPr>
          <a:xfrm>
            <a:off x="7955279" y="3657600"/>
            <a:ext cx="3383280" cy="1965960"/>
          </a:xfrm>
          <a:prstGeom prst="rect">
            <a:avLst/>
          </a:prstGeom>
          <a:solidFill>
            <a:srgbClr val="1E4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3657600"/>
            <a:ext cx="3383280" cy="8229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92440" y="3840480"/>
            <a:ext cx="3108960" cy="731520"/>
          </a:xfrm>
          <a:prstGeom prst="rect">
            <a:avLst/>
          </a:prstGeom>
          <a:noFill/>
        </p:spPr>
        <p:txBody>
          <a:bodyPr wrap="square">
            <a:spAutoFit/>
          </a:bodyPr>
          <a:lstStyle/>
          <a:p>
            <a:pPr algn="l"/>
            <a:r>
              <a:rPr sz="3600" b="1">
                <a:solidFill>
                  <a:srgbClr val="14B8A6"/>
                </a:solidFill>
              </a:rPr>
              <a:t>99.2%</a:t>
            </a:r>
          </a:p>
        </p:txBody>
      </p:sp>
      <p:sp>
        <p:nvSpPr>
          <p:cNvPr id="32" name="TextBox 31"/>
          <p:cNvSpPr txBox="1"/>
          <p:nvPr/>
        </p:nvSpPr>
        <p:spPr>
          <a:xfrm>
            <a:off x="8092440" y="4617720"/>
            <a:ext cx="3108960" cy="411480"/>
          </a:xfrm>
          <a:prstGeom prst="rect">
            <a:avLst/>
          </a:prstGeom>
          <a:noFill/>
        </p:spPr>
        <p:txBody>
          <a:bodyPr wrap="square">
            <a:spAutoFit/>
          </a:bodyPr>
          <a:lstStyle/>
          <a:p>
            <a:pPr algn="l"/>
            <a:r>
              <a:rPr sz="1200" b="1">
                <a:solidFill>
                  <a:srgbClr val="FFFFFF"/>
                </a:solidFill>
              </a:rPr>
              <a:t>Bot Uptime (30-day)</a:t>
            </a:r>
          </a:p>
        </p:txBody>
      </p:sp>
      <p:sp>
        <p:nvSpPr>
          <p:cNvPr id="33" name="TextBox 32"/>
          <p:cNvSpPr txBox="1"/>
          <p:nvPr/>
        </p:nvSpPr>
        <p:spPr>
          <a:xfrm>
            <a:off x="8092440" y="5029200"/>
            <a:ext cx="3108960" cy="411480"/>
          </a:xfrm>
          <a:prstGeom prst="rect">
            <a:avLst/>
          </a:prstGeom>
          <a:noFill/>
        </p:spPr>
        <p:txBody>
          <a:bodyPr wrap="square">
            <a:spAutoFit/>
          </a:bodyPr>
          <a:lstStyle/>
          <a:p>
            <a:pPr algn="l"/>
            <a:r>
              <a:rPr sz="1000" b="0">
                <a:solidFill>
                  <a:srgbClr val="93C5FD"/>
                </a:solidFill>
              </a:rPr>
              <a:t>Exceeds 99% target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3A5C"/>
        </a:solidFill>
        <a:effectLst/>
      </p:bgPr>
    </p:bg>
    <p:spTree>
      <p:nvGrpSpPr>
        <p:cNvPr id="1" name=""/>
        <p:cNvGrpSpPr/>
        <p:nvPr/>
      </p:nvGrpSpPr>
      <p:grpSpPr/>
      <p:sp>
        <p:nvSpPr>
          <p:cNvPr id="2" name="Rectangle 1"/>
          <p:cNvSpPr/>
          <p:nvPr/>
        </p:nvSpPr>
        <p:spPr>
          <a:xfrm>
            <a:off x="0" y="2560320"/>
            <a:ext cx="12188952" cy="10972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058400" cy="1097280"/>
          </a:xfrm>
          <a:prstGeom prst="rect">
            <a:avLst/>
          </a:prstGeom>
          <a:noFill/>
        </p:spPr>
        <p:txBody>
          <a:bodyPr wrap="square">
            <a:spAutoFit/>
          </a:bodyPr>
          <a:lstStyle/>
          <a:p>
            <a:pPr algn="ctr"/>
            <a:r>
              <a:rPr sz="5200" b="1">
                <a:solidFill>
                  <a:srgbClr val="FFFFFF"/>
                </a:solidFill>
              </a:rPr>
              <a:t>Thank You</a:t>
            </a:r>
          </a:p>
        </p:txBody>
      </p:sp>
      <p:sp>
        <p:nvSpPr>
          <p:cNvPr id="4" name="TextBox 3"/>
          <p:cNvSpPr txBox="1"/>
          <p:nvPr/>
        </p:nvSpPr>
        <p:spPr>
          <a:xfrm>
            <a:off x="914400" y="1828800"/>
            <a:ext cx="10058400" cy="502920"/>
          </a:xfrm>
          <a:prstGeom prst="rect">
            <a:avLst/>
          </a:prstGeom>
          <a:noFill/>
        </p:spPr>
        <p:txBody>
          <a:bodyPr wrap="square">
            <a:spAutoFit/>
          </a:bodyPr>
          <a:lstStyle/>
          <a:p>
            <a:pPr algn="ctr"/>
            <a:r>
              <a:rPr sz="1400" b="0">
                <a:solidFill>
                  <a:srgbClr val="93C5FD"/>
                </a:solidFill>
              </a:rPr>
              <a:t>RPA Course · Assignment 04 · E-Commerce Order Processing Bot Case Study</a:t>
            </a:r>
          </a:p>
        </p:txBody>
      </p:sp>
      <p:sp>
        <p:nvSpPr>
          <p:cNvPr id="5" name="TextBox 4"/>
          <p:cNvSpPr txBox="1"/>
          <p:nvPr/>
        </p:nvSpPr>
        <p:spPr>
          <a:xfrm>
            <a:off x="914400" y="2834640"/>
            <a:ext cx="10058400" cy="457200"/>
          </a:xfrm>
          <a:prstGeom prst="rect">
            <a:avLst/>
          </a:prstGeom>
          <a:noFill/>
        </p:spPr>
        <p:txBody>
          <a:bodyPr wrap="square">
            <a:spAutoFit/>
          </a:bodyPr>
          <a:lstStyle/>
          <a:p>
            <a:pPr algn="ctr"/>
            <a:r>
              <a:rPr sz="1200" b="0">
                <a:solidFill>
                  <a:srgbClr val="64748B"/>
                </a:solidFill>
              </a:rPr>
              <a:t>Omais Siddiqui  |  April 2026  |  Built with Claude Code AI-Assisted Vibe Coding</a:t>
            </a:r>
          </a:p>
        </p:txBody>
      </p:sp>
      <p:sp>
        <p:nvSpPr>
          <p:cNvPr id="6" name="TextBox 5"/>
          <p:cNvSpPr txBox="1"/>
          <p:nvPr/>
        </p:nvSpPr>
        <p:spPr>
          <a:xfrm>
            <a:off x="1371600" y="3520440"/>
            <a:ext cx="4206240" cy="594360"/>
          </a:xfrm>
          <a:prstGeom prst="rect">
            <a:avLst/>
          </a:prstGeom>
          <a:solidFill>
            <a:srgbClr val="1E4A76"/>
          </a:solidFill>
          <a:ln>
            <a:solidFill>
              <a:srgbClr val="2563EB"/>
            </a:solidFill>
          </a:ln>
        </p:spPr>
        <p:txBody>
          <a:bodyPr wrap="none">
            <a:spAutoFit/>
          </a:bodyPr>
          <a:lstStyle/>
          <a:p>
            <a:pPr algn="ctr"/>
            <a:r>
              <a:rPr sz="1100" b="1">
                <a:solidFill>
                  <a:srgbClr val="2563EB"/>
                </a:solidFill>
                <a:hlinkClick r:id="rId2"/>
              </a:rPr>
              <a:t>🔗  🌐  Live Website — Click to Open</a:t>
            </a:r>
          </a:p>
        </p:txBody>
      </p:sp>
      <p:sp>
        <p:nvSpPr>
          <p:cNvPr id="7" name="TextBox 6"/>
          <p:cNvSpPr txBox="1"/>
          <p:nvPr/>
        </p:nvSpPr>
        <p:spPr>
          <a:xfrm>
            <a:off x="6583680" y="3520440"/>
            <a:ext cx="4206240" cy="594360"/>
          </a:xfrm>
          <a:prstGeom prst="rect">
            <a:avLst/>
          </a:prstGeom>
          <a:solidFill>
            <a:srgbClr val="1E4A76"/>
          </a:solidFill>
          <a:ln>
            <a:solidFill>
              <a:srgbClr val="2563EB"/>
            </a:solidFill>
          </a:ln>
        </p:spPr>
        <p:txBody>
          <a:bodyPr wrap="none">
            <a:spAutoFit/>
          </a:bodyPr>
          <a:lstStyle/>
          <a:p>
            <a:pPr algn="ctr"/>
            <a:r>
              <a:rPr sz="1100" b="1">
                <a:solidFill>
                  <a:srgbClr val="2563EB"/>
                </a:solidFill>
                <a:hlinkClick r:id="rId3"/>
              </a:rPr>
              <a:t>🔗  📁  GitHub Repository — Source Code</a:t>
            </a:r>
          </a:p>
        </p:txBody>
      </p:sp>
      <p:sp>
        <p:nvSpPr>
          <p:cNvPr id="8" name="TextBox 7"/>
          <p:cNvSpPr txBox="1"/>
          <p:nvPr/>
        </p:nvSpPr>
        <p:spPr>
          <a:xfrm>
            <a:off x="1371600" y="4206240"/>
            <a:ext cx="4206240" cy="320040"/>
          </a:xfrm>
          <a:prstGeom prst="rect">
            <a:avLst/>
          </a:prstGeom>
          <a:noFill/>
        </p:spPr>
        <p:txBody>
          <a:bodyPr wrap="square">
            <a:spAutoFit/>
          </a:bodyPr>
          <a:lstStyle/>
          <a:p>
            <a:pPr algn="ctr"/>
            <a:r>
              <a:rPr sz="900" b="0">
                <a:solidFill>
                  <a:srgbClr val="93C5FD"/>
                </a:solidFill>
              </a:rPr>
              <a:t>https://omais-eng.github.io/assignment-04-rpa-bot-troubleshooting/</a:t>
            </a:r>
          </a:p>
        </p:txBody>
      </p:sp>
      <p:sp>
        <p:nvSpPr>
          <p:cNvPr id="9" name="TextBox 8"/>
          <p:cNvSpPr txBox="1"/>
          <p:nvPr/>
        </p:nvSpPr>
        <p:spPr>
          <a:xfrm>
            <a:off x="6583680" y="4206240"/>
            <a:ext cx="4206240" cy="320040"/>
          </a:xfrm>
          <a:prstGeom prst="rect">
            <a:avLst/>
          </a:prstGeom>
          <a:noFill/>
        </p:spPr>
        <p:txBody>
          <a:bodyPr wrap="square">
            <a:spAutoFit/>
          </a:bodyPr>
          <a:lstStyle/>
          <a:p>
            <a:pPr algn="ctr"/>
            <a:r>
              <a:rPr sz="900" b="0">
                <a:solidFill>
                  <a:srgbClr val="93C5FD"/>
                </a:solidFill>
              </a:rPr>
              <a:t>https://github.com/omais-eng/assignment-04-rpa-bot-troubleshooting</a:t>
            </a:r>
          </a:p>
        </p:txBody>
      </p:sp>
      <p:sp>
        <p:nvSpPr>
          <p:cNvPr id="10" name="TextBox 9"/>
          <p:cNvSpPr txBox="1"/>
          <p:nvPr/>
        </p:nvSpPr>
        <p:spPr>
          <a:xfrm>
            <a:off x="914400" y="4709160"/>
            <a:ext cx="10058400" cy="320040"/>
          </a:xfrm>
          <a:prstGeom prst="rect">
            <a:avLst/>
          </a:prstGeom>
          <a:noFill/>
        </p:spPr>
        <p:txBody>
          <a:bodyPr wrap="square">
            <a:spAutoFit/>
          </a:bodyPr>
          <a:lstStyle/>
          <a:p>
            <a:pPr algn="ctr"/>
            <a:r>
              <a:rPr sz="900" b="0">
                <a:solidFill>
                  <a:srgbClr val="475A6B"/>
                </a:solidFill>
              </a:rPr>
              <a:t>Local file: file:///Users/omaissaeedsiddiqui/Desktop/Assignment_04_RPA/code/index.html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